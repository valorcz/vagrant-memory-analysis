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1" r:id="rId1"/>
  </p:sldMasterIdLst>
  <p:notesMasterIdLst>
    <p:notesMasterId r:id="rId73"/>
  </p:notesMasterIdLst>
  <p:handoutMasterIdLst>
    <p:handoutMasterId r:id="rId74"/>
  </p:handoutMasterIdLst>
  <p:sldIdLst>
    <p:sldId id="261" r:id="rId2"/>
    <p:sldId id="823" r:id="rId3"/>
    <p:sldId id="761" r:id="rId4"/>
    <p:sldId id="763" r:id="rId5"/>
    <p:sldId id="826" r:id="rId6"/>
    <p:sldId id="816" r:id="rId7"/>
    <p:sldId id="764" r:id="rId8"/>
    <p:sldId id="765" r:id="rId9"/>
    <p:sldId id="786" r:id="rId10"/>
    <p:sldId id="784" r:id="rId11"/>
    <p:sldId id="785" r:id="rId12"/>
    <p:sldId id="821" r:id="rId13"/>
    <p:sldId id="832" r:id="rId14"/>
    <p:sldId id="814" r:id="rId15"/>
    <p:sldId id="815" r:id="rId16"/>
    <p:sldId id="825" r:id="rId17"/>
    <p:sldId id="837" r:id="rId18"/>
    <p:sldId id="835" r:id="rId19"/>
    <p:sldId id="836" r:id="rId20"/>
    <p:sldId id="838" r:id="rId21"/>
    <p:sldId id="788" r:id="rId22"/>
    <p:sldId id="813" r:id="rId23"/>
    <p:sldId id="789" r:id="rId24"/>
    <p:sldId id="790" r:id="rId25"/>
    <p:sldId id="791" r:id="rId26"/>
    <p:sldId id="797" r:id="rId27"/>
    <p:sldId id="827" r:id="rId28"/>
    <p:sldId id="792" r:id="rId29"/>
    <p:sldId id="824" r:id="rId30"/>
    <p:sldId id="828" r:id="rId31"/>
    <p:sldId id="787" r:id="rId32"/>
    <p:sldId id="795" r:id="rId33"/>
    <p:sldId id="772" r:id="rId34"/>
    <p:sldId id="830" r:id="rId35"/>
    <p:sldId id="793" r:id="rId36"/>
    <p:sldId id="812" r:id="rId37"/>
    <p:sldId id="829" r:id="rId38"/>
    <p:sldId id="771" r:id="rId39"/>
    <p:sldId id="802" r:id="rId40"/>
    <p:sldId id="808" r:id="rId41"/>
    <p:sldId id="807" r:id="rId42"/>
    <p:sldId id="809" r:id="rId43"/>
    <p:sldId id="801" r:id="rId44"/>
    <p:sldId id="803" r:id="rId45"/>
    <p:sldId id="798" r:id="rId46"/>
    <p:sldId id="799" r:id="rId47"/>
    <p:sldId id="800" r:id="rId48"/>
    <p:sldId id="806" r:id="rId49"/>
    <p:sldId id="810" r:id="rId50"/>
    <p:sldId id="831" r:id="rId51"/>
    <p:sldId id="783" r:id="rId52"/>
    <p:sldId id="769" r:id="rId53"/>
    <p:sldId id="779" r:id="rId54"/>
    <p:sldId id="820" r:id="rId55"/>
    <p:sldId id="833" r:id="rId56"/>
    <p:sldId id="834" r:id="rId57"/>
    <p:sldId id="781" r:id="rId58"/>
    <p:sldId id="770" r:id="rId59"/>
    <p:sldId id="817" r:id="rId60"/>
    <p:sldId id="818" r:id="rId61"/>
    <p:sldId id="760" r:id="rId62"/>
    <p:sldId id="762" r:id="rId63"/>
    <p:sldId id="811" r:id="rId64"/>
    <p:sldId id="773" r:id="rId65"/>
    <p:sldId id="774" r:id="rId66"/>
    <p:sldId id="819" r:id="rId67"/>
    <p:sldId id="775" r:id="rId68"/>
    <p:sldId id="776" r:id="rId69"/>
    <p:sldId id="778" r:id="rId70"/>
    <p:sldId id="822" r:id="rId71"/>
    <p:sldId id="768" r:id="rId72"/>
  </p:sldIdLst>
  <p:sldSz cx="9144000" cy="5715000" type="screen16x10"/>
  <p:notesSz cx="709930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138B163-FFBC-FA4B-861E-AB1D51437721}">
          <p14:sldIdLst>
            <p14:sldId id="261"/>
          </p14:sldIdLst>
        </p14:section>
        <p14:section name="Lecture" id="{52CFEF29-D127-CA4D-A8A2-6F87FC55D84E}">
          <p14:sldIdLst>
            <p14:sldId id="823"/>
            <p14:sldId id="761"/>
            <p14:sldId id="763"/>
            <p14:sldId id="826"/>
            <p14:sldId id="816"/>
            <p14:sldId id="764"/>
            <p14:sldId id="765"/>
            <p14:sldId id="786"/>
          </p14:sldIdLst>
        </p14:section>
        <p14:section name="Memory organization" id="{AAD3C62D-95E8-8C46-9D52-12AED91A8EB3}">
          <p14:sldIdLst>
            <p14:sldId id="784"/>
            <p14:sldId id="785"/>
            <p14:sldId id="821"/>
            <p14:sldId id="832"/>
            <p14:sldId id="814"/>
            <p14:sldId id="815"/>
            <p14:sldId id="825"/>
            <p14:sldId id="837"/>
            <p14:sldId id="835"/>
            <p14:sldId id="836"/>
          </p14:sldIdLst>
        </p14:section>
        <p14:section name="OS Structures" id="{7758C042-2BAB-9744-B6ED-1147B0A7F856}">
          <p14:sldIdLst>
            <p14:sldId id="838"/>
            <p14:sldId id="788"/>
            <p14:sldId id="813"/>
            <p14:sldId id="789"/>
            <p14:sldId id="790"/>
            <p14:sldId id="791"/>
            <p14:sldId id="797"/>
            <p14:sldId id="827"/>
          </p14:sldIdLst>
        </p14:section>
        <p14:section name="Memory Acqusition" id="{9CEA76FD-55BE-3A49-AB00-A5F5533621AF}">
          <p14:sldIdLst>
            <p14:sldId id="792"/>
            <p14:sldId id="824"/>
            <p14:sldId id="828"/>
            <p14:sldId id="787"/>
            <p14:sldId id="795"/>
            <p14:sldId id="772"/>
            <p14:sldId id="830"/>
            <p14:sldId id="793"/>
            <p14:sldId id="812"/>
          </p14:sldIdLst>
        </p14:section>
        <p14:section name="Memory analysis" id="{BAFE2FC9-0062-0748-9A2C-0E7745D90485}">
          <p14:sldIdLst>
            <p14:sldId id="829"/>
            <p14:sldId id="771"/>
            <p14:sldId id="802"/>
            <p14:sldId id="808"/>
            <p14:sldId id="807"/>
            <p14:sldId id="809"/>
            <p14:sldId id="801"/>
            <p14:sldId id="803"/>
            <p14:sldId id="798"/>
            <p14:sldId id="799"/>
            <p14:sldId id="800"/>
            <p14:sldId id="806"/>
            <p14:sldId id="810"/>
            <p14:sldId id="831"/>
            <p14:sldId id="783"/>
            <p14:sldId id="769"/>
            <p14:sldId id="779"/>
            <p14:sldId id="820"/>
          </p14:sldIdLst>
        </p14:section>
        <p14:section name="Single binary analysis" id="{F276D4A8-B00B-0844-9687-42E0D03CED98}">
          <p14:sldIdLst>
            <p14:sldId id="833"/>
          </p14:sldIdLst>
        </p14:section>
        <p14:section name="OpSec &amp; Notes" id="{E3D6B1BC-EDA3-7843-887C-3A4C21225D94}">
          <p14:sldIdLst>
            <p14:sldId id="834"/>
            <p14:sldId id="781"/>
            <p14:sldId id="770"/>
          </p14:sldIdLst>
        </p14:section>
        <p14:section name="More resources" id="{B18E9708-EA5D-F544-AF40-BF5490B5966B}">
          <p14:sldIdLst>
            <p14:sldId id="817"/>
          </p14:sldIdLst>
        </p14:section>
        <p14:section name="Q &amp; A" id="{CB46FFFB-8A60-CE4D-A5F5-6FFF7D9016A6}">
          <p14:sldIdLst>
            <p14:sldId id="818"/>
          </p14:sldIdLst>
        </p14:section>
        <p14:section name="Labs" id="{8C2497E2-830A-344A-8C61-0E2317495E75}">
          <p14:sldIdLst>
            <p14:sldId id="760"/>
            <p14:sldId id="762"/>
            <p14:sldId id="811"/>
            <p14:sldId id="773"/>
            <p14:sldId id="774"/>
            <p14:sldId id="819"/>
            <p14:sldId id="775"/>
            <p14:sldId id="776"/>
            <p14:sldId id="778"/>
            <p14:sldId id="822"/>
            <p14:sldId id="7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26" userDrawn="1">
          <p15:clr>
            <a:srgbClr val="A4A3A4"/>
          </p15:clr>
        </p15:guide>
        <p15:guide id="2" pos="249" userDrawn="1">
          <p15:clr>
            <a:srgbClr val="A4A3A4"/>
          </p15:clr>
        </p15:guide>
        <p15:guide id="3" pos="5511" userDrawn="1">
          <p15:clr>
            <a:srgbClr val="A4A3A4"/>
          </p15:clr>
        </p15:guide>
        <p15:guide id="4" orient="horz" pos="335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60C8"/>
    <a:srgbClr val="1E44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05" autoAdjust="0"/>
    <p:restoredTop sz="91497" autoAdjust="0"/>
  </p:normalViewPr>
  <p:slideViewPr>
    <p:cSldViewPr>
      <p:cViewPr varScale="1">
        <p:scale>
          <a:sx n="118" d="100"/>
          <a:sy n="118" d="100"/>
        </p:scale>
        <p:origin x="2416" y="496"/>
      </p:cViewPr>
      <p:guideLst>
        <p:guide orient="horz" pos="326"/>
        <p:guide pos="249"/>
        <p:guide pos="5511"/>
        <p:guide orient="horz" pos="335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0" d="100"/>
          <a:sy n="60" d="100"/>
        </p:scale>
        <p:origin x="-2838" y="-90"/>
      </p:cViewPr>
      <p:guideLst>
        <p:guide orient="horz" pos="3223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D008EB-D993-46E9-9D3F-CF3055315290}" type="doc">
      <dgm:prSet loTypeId="urn:microsoft.com/office/officeart/2005/8/layout/hProcess9" loCatId="process" qsTypeId="urn:microsoft.com/office/officeart/2005/8/quickstyle/simple1" qsCatId="simple" csTypeId="urn:microsoft.com/office/officeart/2005/8/colors/colorful5" csCatId="colorful" phldr="1"/>
      <dgm:spPr/>
    </dgm:pt>
    <dgm:pt modelId="{70C4C26B-8CF2-4F72-86D8-54785D84AB96}">
      <dgm:prSet phldrT="[Text]"/>
      <dgm:spPr>
        <a:solidFill>
          <a:srgbClr val="92D050"/>
        </a:solidFill>
      </dgm:spPr>
      <dgm:t>
        <a:bodyPr/>
        <a:lstStyle/>
        <a:p>
          <a:r>
            <a:rPr lang="en-US" b="1" dirty="0"/>
            <a:t>Segmentation</a:t>
          </a:r>
        </a:p>
      </dgm:t>
    </dgm:pt>
    <dgm:pt modelId="{F661278B-0367-4265-843A-0549061F93A9}" type="parTrans" cxnId="{839986F4-DC10-42B2-A1B8-F3F3CDC20C4D}">
      <dgm:prSet/>
      <dgm:spPr/>
      <dgm:t>
        <a:bodyPr/>
        <a:lstStyle/>
        <a:p>
          <a:endParaRPr lang="en-US"/>
        </a:p>
      </dgm:t>
    </dgm:pt>
    <dgm:pt modelId="{626F4C99-36B9-474E-8CA1-6ED270F8B255}" type="sibTrans" cxnId="{839986F4-DC10-42B2-A1B8-F3F3CDC20C4D}">
      <dgm:prSet/>
      <dgm:spPr/>
      <dgm:t>
        <a:bodyPr/>
        <a:lstStyle/>
        <a:p>
          <a:endParaRPr lang="en-US"/>
        </a:p>
      </dgm:t>
    </dgm:pt>
    <dgm:pt modelId="{70D7C8F3-34BC-41C8-A572-8C176088C775}">
      <dgm:prSet phldrT="[Text]"/>
      <dgm:spPr>
        <a:solidFill>
          <a:srgbClr val="6060C8"/>
        </a:solidFill>
      </dgm:spPr>
      <dgm:t>
        <a:bodyPr/>
        <a:lstStyle/>
        <a:p>
          <a:r>
            <a:rPr lang="en-US" b="1" dirty="0"/>
            <a:t>Paging</a:t>
          </a:r>
        </a:p>
      </dgm:t>
    </dgm:pt>
    <dgm:pt modelId="{B809F636-D80D-47C4-A968-2E7EACEC86E3}" type="parTrans" cxnId="{9DF40CA4-8652-4E13-9948-5C57166D798B}">
      <dgm:prSet/>
      <dgm:spPr/>
      <dgm:t>
        <a:bodyPr/>
        <a:lstStyle/>
        <a:p>
          <a:endParaRPr lang="en-US"/>
        </a:p>
      </dgm:t>
    </dgm:pt>
    <dgm:pt modelId="{D3791337-8C58-47C7-88D7-AC9F5906A139}" type="sibTrans" cxnId="{9DF40CA4-8652-4E13-9948-5C57166D798B}">
      <dgm:prSet/>
      <dgm:spPr/>
      <dgm:t>
        <a:bodyPr/>
        <a:lstStyle/>
        <a:p>
          <a:endParaRPr lang="en-US"/>
        </a:p>
      </dgm:t>
    </dgm:pt>
    <dgm:pt modelId="{7538744A-DA24-4390-AD1E-5AECE698B49F}">
      <dgm:prSet phldrT="[Text]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US" b="1" dirty="0"/>
            <a:t>Physical Address</a:t>
          </a:r>
        </a:p>
      </dgm:t>
    </dgm:pt>
    <dgm:pt modelId="{A6D8992D-2E1E-47A1-83D9-62E4C2DA46AB}" type="parTrans" cxnId="{BB7B9E96-427D-43EC-A1FE-DE677001744C}">
      <dgm:prSet/>
      <dgm:spPr/>
      <dgm:t>
        <a:bodyPr/>
        <a:lstStyle/>
        <a:p>
          <a:endParaRPr lang="en-US"/>
        </a:p>
      </dgm:t>
    </dgm:pt>
    <dgm:pt modelId="{9BD31673-8EFF-4AB2-87FC-3D034677B7ED}" type="sibTrans" cxnId="{BB7B9E96-427D-43EC-A1FE-DE677001744C}">
      <dgm:prSet/>
      <dgm:spPr/>
      <dgm:t>
        <a:bodyPr/>
        <a:lstStyle/>
        <a:p>
          <a:endParaRPr lang="en-US"/>
        </a:p>
      </dgm:t>
    </dgm:pt>
    <dgm:pt modelId="{0459415D-F645-4C26-BFE3-4B5109654240}" type="pres">
      <dgm:prSet presAssocID="{A2D008EB-D993-46E9-9D3F-CF3055315290}" presName="CompostProcess" presStyleCnt="0">
        <dgm:presLayoutVars>
          <dgm:dir/>
          <dgm:resizeHandles val="exact"/>
        </dgm:presLayoutVars>
      </dgm:prSet>
      <dgm:spPr/>
    </dgm:pt>
    <dgm:pt modelId="{3FCA77F3-95C5-4452-81E4-BB8962547421}" type="pres">
      <dgm:prSet presAssocID="{A2D008EB-D993-46E9-9D3F-CF3055315290}" presName="arrow" presStyleLbl="bgShp" presStyleIdx="0" presStyleCnt="1" custLinFactNeighborY="-1723"/>
      <dgm:spPr/>
    </dgm:pt>
    <dgm:pt modelId="{A9F24886-D5EF-44A9-A3AF-88021009B95A}" type="pres">
      <dgm:prSet presAssocID="{A2D008EB-D993-46E9-9D3F-CF3055315290}" presName="linearProcess" presStyleCnt="0"/>
      <dgm:spPr/>
    </dgm:pt>
    <dgm:pt modelId="{3C38C384-85A7-4E79-A615-DF2DD5AB6C10}" type="pres">
      <dgm:prSet presAssocID="{70C4C26B-8CF2-4F72-86D8-54785D84AB96}" presName="textNode" presStyleLbl="node1" presStyleIdx="0" presStyleCnt="3">
        <dgm:presLayoutVars>
          <dgm:bulletEnabled val="1"/>
        </dgm:presLayoutVars>
      </dgm:prSet>
      <dgm:spPr/>
    </dgm:pt>
    <dgm:pt modelId="{50A083C7-DBB9-46BB-8791-83B5B4BF1531}" type="pres">
      <dgm:prSet presAssocID="{626F4C99-36B9-474E-8CA1-6ED270F8B255}" presName="sibTrans" presStyleCnt="0"/>
      <dgm:spPr/>
    </dgm:pt>
    <dgm:pt modelId="{B45681FB-4665-43B7-A40B-DBF038DAD78C}" type="pres">
      <dgm:prSet presAssocID="{70D7C8F3-34BC-41C8-A572-8C176088C775}" presName="textNode" presStyleLbl="node1" presStyleIdx="1" presStyleCnt="3" custLinFactNeighborY="-5643">
        <dgm:presLayoutVars>
          <dgm:bulletEnabled val="1"/>
        </dgm:presLayoutVars>
      </dgm:prSet>
      <dgm:spPr/>
    </dgm:pt>
    <dgm:pt modelId="{514F385F-25AF-4E21-9E5C-1BD8C963FD59}" type="pres">
      <dgm:prSet presAssocID="{D3791337-8C58-47C7-88D7-AC9F5906A139}" presName="sibTrans" presStyleCnt="0"/>
      <dgm:spPr/>
    </dgm:pt>
    <dgm:pt modelId="{9783BC9F-10A0-4555-84F6-EA3BDEAFAEA6}" type="pres">
      <dgm:prSet presAssocID="{7538744A-DA24-4390-AD1E-5AECE698B49F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288CEB0B-51A0-4BB0-BD47-3FD1132C294D}" type="presOf" srcId="{70C4C26B-8CF2-4F72-86D8-54785D84AB96}" destId="{3C38C384-85A7-4E79-A615-DF2DD5AB6C10}" srcOrd="0" destOrd="0" presId="urn:microsoft.com/office/officeart/2005/8/layout/hProcess9"/>
    <dgm:cxn modelId="{0FCCCE68-D0E6-4E78-A8E4-46DA2056B289}" type="presOf" srcId="{A2D008EB-D993-46E9-9D3F-CF3055315290}" destId="{0459415D-F645-4C26-BFE3-4B5109654240}" srcOrd="0" destOrd="0" presId="urn:microsoft.com/office/officeart/2005/8/layout/hProcess9"/>
    <dgm:cxn modelId="{BB7B9E96-427D-43EC-A1FE-DE677001744C}" srcId="{A2D008EB-D993-46E9-9D3F-CF3055315290}" destId="{7538744A-DA24-4390-AD1E-5AECE698B49F}" srcOrd="2" destOrd="0" parTransId="{A6D8992D-2E1E-47A1-83D9-62E4C2DA46AB}" sibTransId="{9BD31673-8EFF-4AB2-87FC-3D034677B7ED}"/>
    <dgm:cxn modelId="{9DF40CA4-8652-4E13-9948-5C57166D798B}" srcId="{A2D008EB-D993-46E9-9D3F-CF3055315290}" destId="{70D7C8F3-34BC-41C8-A572-8C176088C775}" srcOrd="1" destOrd="0" parTransId="{B809F636-D80D-47C4-A968-2E7EACEC86E3}" sibTransId="{D3791337-8C58-47C7-88D7-AC9F5906A139}"/>
    <dgm:cxn modelId="{A5E65EBF-2127-47C6-B272-7EFEF2423073}" type="presOf" srcId="{7538744A-DA24-4390-AD1E-5AECE698B49F}" destId="{9783BC9F-10A0-4555-84F6-EA3BDEAFAEA6}" srcOrd="0" destOrd="0" presId="urn:microsoft.com/office/officeart/2005/8/layout/hProcess9"/>
    <dgm:cxn modelId="{4D1D36E5-C5B0-444D-9C02-99BBC73C4AE9}" type="presOf" srcId="{70D7C8F3-34BC-41C8-A572-8C176088C775}" destId="{B45681FB-4665-43B7-A40B-DBF038DAD78C}" srcOrd="0" destOrd="0" presId="urn:microsoft.com/office/officeart/2005/8/layout/hProcess9"/>
    <dgm:cxn modelId="{839986F4-DC10-42B2-A1B8-F3F3CDC20C4D}" srcId="{A2D008EB-D993-46E9-9D3F-CF3055315290}" destId="{70C4C26B-8CF2-4F72-86D8-54785D84AB96}" srcOrd="0" destOrd="0" parTransId="{F661278B-0367-4265-843A-0549061F93A9}" sibTransId="{626F4C99-36B9-474E-8CA1-6ED270F8B255}"/>
    <dgm:cxn modelId="{9A8C73F7-6B38-4C59-8C35-49CE0657EE74}" type="presParOf" srcId="{0459415D-F645-4C26-BFE3-4B5109654240}" destId="{3FCA77F3-95C5-4452-81E4-BB8962547421}" srcOrd="0" destOrd="0" presId="urn:microsoft.com/office/officeart/2005/8/layout/hProcess9"/>
    <dgm:cxn modelId="{AD8737B6-EA06-4206-BCB7-67183A3181DB}" type="presParOf" srcId="{0459415D-F645-4C26-BFE3-4B5109654240}" destId="{A9F24886-D5EF-44A9-A3AF-88021009B95A}" srcOrd="1" destOrd="0" presId="urn:microsoft.com/office/officeart/2005/8/layout/hProcess9"/>
    <dgm:cxn modelId="{441843A2-0C03-458C-95DB-FE9F6D5F8321}" type="presParOf" srcId="{A9F24886-D5EF-44A9-A3AF-88021009B95A}" destId="{3C38C384-85A7-4E79-A615-DF2DD5AB6C10}" srcOrd="0" destOrd="0" presId="urn:microsoft.com/office/officeart/2005/8/layout/hProcess9"/>
    <dgm:cxn modelId="{2276D87D-A73A-4FE8-A7DB-E8288EA570CC}" type="presParOf" srcId="{A9F24886-D5EF-44A9-A3AF-88021009B95A}" destId="{50A083C7-DBB9-46BB-8791-83B5B4BF1531}" srcOrd="1" destOrd="0" presId="urn:microsoft.com/office/officeart/2005/8/layout/hProcess9"/>
    <dgm:cxn modelId="{24EA3A8E-2213-4B1B-8C72-AECC6D35609B}" type="presParOf" srcId="{A9F24886-D5EF-44A9-A3AF-88021009B95A}" destId="{B45681FB-4665-43B7-A40B-DBF038DAD78C}" srcOrd="2" destOrd="0" presId="urn:microsoft.com/office/officeart/2005/8/layout/hProcess9"/>
    <dgm:cxn modelId="{2C75C5B3-4A6F-4338-8E82-20614A3D971D}" type="presParOf" srcId="{A9F24886-D5EF-44A9-A3AF-88021009B95A}" destId="{514F385F-25AF-4E21-9E5C-1BD8C963FD59}" srcOrd="3" destOrd="0" presId="urn:microsoft.com/office/officeart/2005/8/layout/hProcess9"/>
    <dgm:cxn modelId="{4E97F97E-7699-45FC-8EF7-133F6F679AA2}" type="presParOf" srcId="{A9F24886-D5EF-44A9-A3AF-88021009B95A}" destId="{9783BC9F-10A0-4555-84F6-EA3BDEAFAEA6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2DE6CB-88BB-494E-950B-50EE36867073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1472DE8-21D4-4748-86B3-23A9EA7A9298}">
      <dgm:prSet/>
      <dgm:spPr/>
      <dgm:t>
        <a:bodyPr/>
        <a:lstStyle/>
        <a:p>
          <a:r>
            <a:rPr lang="en-US" b="0" i="0" dirty="0">
              <a:latin typeface="Fira Sans Condensed" panose="020B0503050000020004" pitchFamily="34" charset="0"/>
            </a:rPr>
            <a:t>Command &amp; Control (C2) communication</a:t>
          </a:r>
        </a:p>
      </dgm:t>
    </dgm:pt>
    <dgm:pt modelId="{AACF013B-D032-46D4-BD04-F762861AB871}" type="parTrans" cxnId="{639C6646-D485-407E-B339-79E495F4DFE8}">
      <dgm:prSet/>
      <dgm:spPr/>
      <dgm:t>
        <a:bodyPr/>
        <a:lstStyle/>
        <a:p>
          <a:endParaRPr lang="en-US" b="0" i="0">
            <a:latin typeface="Fira Sans Condensed" panose="020B0503050000020004" pitchFamily="34" charset="0"/>
          </a:endParaRPr>
        </a:p>
      </dgm:t>
    </dgm:pt>
    <dgm:pt modelId="{80625ACF-33D4-489D-96B4-D71CD83A3993}" type="sibTrans" cxnId="{639C6646-D485-407E-B339-79E495F4DFE8}">
      <dgm:prSet/>
      <dgm:spPr/>
      <dgm:t>
        <a:bodyPr/>
        <a:lstStyle/>
        <a:p>
          <a:endParaRPr lang="en-US" b="0" i="0">
            <a:latin typeface="Fira Sans Condensed" panose="020B0503050000020004" pitchFamily="34" charset="0"/>
          </a:endParaRPr>
        </a:p>
      </dgm:t>
    </dgm:pt>
    <dgm:pt modelId="{9B46193D-B864-4F75-AFBD-0F8523973BF6}">
      <dgm:prSet/>
      <dgm:spPr/>
      <dgm:t>
        <a:bodyPr/>
        <a:lstStyle/>
        <a:p>
          <a:r>
            <a:rPr lang="en-US" b="0" i="0">
              <a:latin typeface="Fira Sans Condensed" panose="020B0503050000020004" pitchFamily="34" charset="0"/>
            </a:rPr>
            <a:t>Hidden processes</a:t>
          </a:r>
        </a:p>
      </dgm:t>
    </dgm:pt>
    <dgm:pt modelId="{60CBFCE9-988D-4D62-84DA-894D60B14387}" type="parTrans" cxnId="{CBD1E3B4-4F9D-4A81-B190-11D2BF722E9A}">
      <dgm:prSet/>
      <dgm:spPr/>
      <dgm:t>
        <a:bodyPr/>
        <a:lstStyle/>
        <a:p>
          <a:endParaRPr lang="en-US" b="0" i="0">
            <a:latin typeface="Fira Sans Condensed" panose="020B0503050000020004" pitchFamily="34" charset="0"/>
          </a:endParaRPr>
        </a:p>
      </dgm:t>
    </dgm:pt>
    <dgm:pt modelId="{3F1EFEF7-1966-4428-84ED-8957B31AF40A}" type="sibTrans" cxnId="{CBD1E3B4-4F9D-4A81-B190-11D2BF722E9A}">
      <dgm:prSet/>
      <dgm:spPr/>
      <dgm:t>
        <a:bodyPr/>
        <a:lstStyle/>
        <a:p>
          <a:endParaRPr lang="en-US" b="0" i="0">
            <a:latin typeface="Fira Sans Condensed" panose="020B0503050000020004" pitchFamily="34" charset="0"/>
          </a:endParaRPr>
        </a:p>
      </dgm:t>
    </dgm:pt>
    <dgm:pt modelId="{048F834B-E3CE-44BF-B950-6039CF85D3DA}">
      <dgm:prSet/>
      <dgm:spPr/>
      <dgm:t>
        <a:bodyPr/>
        <a:lstStyle/>
        <a:p>
          <a:r>
            <a:rPr lang="en-US" b="0" i="0">
              <a:latin typeface="Fira Sans Condensed" panose="020B0503050000020004" pitchFamily="34" charset="0"/>
            </a:rPr>
            <a:t>Process/DLL injection evidence</a:t>
          </a:r>
        </a:p>
      </dgm:t>
    </dgm:pt>
    <dgm:pt modelId="{8834621A-C5C4-4A40-86D1-24E0AF7E983A}" type="parTrans" cxnId="{DC948E9F-F15A-4023-82B6-B2939AE4DE73}">
      <dgm:prSet/>
      <dgm:spPr/>
      <dgm:t>
        <a:bodyPr/>
        <a:lstStyle/>
        <a:p>
          <a:endParaRPr lang="en-US" b="0" i="0">
            <a:latin typeface="Fira Sans Condensed" panose="020B0503050000020004" pitchFamily="34" charset="0"/>
          </a:endParaRPr>
        </a:p>
      </dgm:t>
    </dgm:pt>
    <dgm:pt modelId="{E37DF879-F149-463E-98FD-E9A8F3EBC4A4}" type="sibTrans" cxnId="{DC948E9F-F15A-4023-82B6-B2939AE4DE73}">
      <dgm:prSet/>
      <dgm:spPr/>
      <dgm:t>
        <a:bodyPr/>
        <a:lstStyle/>
        <a:p>
          <a:endParaRPr lang="en-US" b="0" i="0">
            <a:latin typeface="Fira Sans Condensed" panose="020B0503050000020004" pitchFamily="34" charset="0"/>
          </a:endParaRPr>
        </a:p>
      </dgm:t>
    </dgm:pt>
    <dgm:pt modelId="{EFC89A6A-533B-4E34-A1DF-D42CA73D454A}">
      <dgm:prSet/>
      <dgm:spPr/>
      <dgm:t>
        <a:bodyPr/>
        <a:lstStyle/>
        <a:p>
          <a:r>
            <a:rPr lang="en-US" b="0" i="0">
              <a:latin typeface="Fira Sans Condensed" panose="020B0503050000020004" pitchFamily="34" charset="0"/>
            </a:rPr>
            <a:t>Non-standard/infamous binaries/mutexes</a:t>
          </a:r>
        </a:p>
      </dgm:t>
    </dgm:pt>
    <dgm:pt modelId="{B3B3703D-DAFC-4CBD-9CBC-E3BEC8F648A0}" type="parTrans" cxnId="{2A45B954-32CB-4BD8-A293-5A60C48C2321}">
      <dgm:prSet/>
      <dgm:spPr/>
      <dgm:t>
        <a:bodyPr/>
        <a:lstStyle/>
        <a:p>
          <a:endParaRPr lang="en-US" b="0" i="0">
            <a:latin typeface="Fira Sans Condensed" panose="020B0503050000020004" pitchFamily="34" charset="0"/>
          </a:endParaRPr>
        </a:p>
      </dgm:t>
    </dgm:pt>
    <dgm:pt modelId="{B9C48BD1-FF92-424D-AD02-5A2CAF93A4C4}" type="sibTrans" cxnId="{2A45B954-32CB-4BD8-A293-5A60C48C2321}">
      <dgm:prSet/>
      <dgm:spPr/>
      <dgm:t>
        <a:bodyPr/>
        <a:lstStyle/>
        <a:p>
          <a:endParaRPr lang="en-US" b="0" i="0">
            <a:latin typeface="Fira Sans Condensed" panose="020B0503050000020004" pitchFamily="34" charset="0"/>
          </a:endParaRPr>
        </a:p>
      </dgm:t>
    </dgm:pt>
    <dgm:pt modelId="{6AC699A6-43F9-45DE-A909-9CB70E286A84}">
      <dgm:prSet/>
      <dgm:spPr/>
      <dgm:t>
        <a:bodyPr/>
        <a:lstStyle/>
        <a:p>
          <a:r>
            <a:rPr lang="en-US" b="0" i="0">
              <a:latin typeface="Fira Sans Condensed" panose="020B0503050000020004" pitchFamily="34" charset="0"/>
            </a:rPr>
            <a:t>Open sockets and files</a:t>
          </a:r>
        </a:p>
      </dgm:t>
    </dgm:pt>
    <dgm:pt modelId="{C6D4012E-AF20-4C4E-80B4-A541B4FD12C5}" type="parTrans" cxnId="{F1FD0D14-D7E5-4989-BFED-34409145A385}">
      <dgm:prSet/>
      <dgm:spPr/>
      <dgm:t>
        <a:bodyPr/>
        <a:lstStyle/>
        <a:p>
          <a:endParaRPr lang="en-US" b="0" i="0">
            <a:latin typeface="Fira Sans Condensed" panose="020B0503050000020004" pitchFamily="34" charset="0"/>
          </a:endParaRPr>
        </a:p>
      </dgm:t>
    </dgm:pt>
    <dgm:pt modelId="{3C16C9D7-E7C2-4F28-BEF9-5D888B9B1CBC}" type="sibTrans" cxnId="{F1FD0D14-D7E5-4989-BFED-34409145A385}">
      <dgm:prSet/>
      <dgm:spPr/>
      <dgm:t>
        <a:bodyPr/>
        <a:lstStyle/>
        <a:p>
          <a:endParaRPr lang="en-US" b="0" i="0">
            <a:latin typeface="Fira Sans Condensed" panose="020B0503050000020004" pitchFamily="34" charset="0"/>
          </a:endParaRPr>
        </a:p>
      </dgm:t>
    </dgm:pt>
    <dgm:pt modelId="{75AEE892-4C96-4E8F-9D43-4017E10DCF8B}">
      <dgm:prSet/>
      <dgm:spPr/>
      <dgm:t>
        <a:bodyPr/>
        <a:lstStyle/>
        <a:p>
          <a:r>
            <a:rPr lang="en-US" b="0" i="0">
              <a:latin typeface="Fira Sans Condensed" panose="020B0503050000020004" pitchFamily="34" charset="0"/>
            </a:rPr>
            <a:t>Registry records</a:t>
          </a:r>
        </a:p>
      </dgm:t>
    </dgm:pt>
    <dgm:pt modelId="{C49A4B3D-13E2-4E43-B4E1-29AE806EC196}" type="parTrans" cxnId="{5E4EB21A-B288-45AB-9C53-45B62130602B}">
      <dgm:prSet/>
      <dgm:spPr/>
      <dgm:t>
        <a:bodyPr/>
        <a:lstStyle/>
        <a:p>
          <a:endParaRPr lang="en-US" b="0" i="0">
            <a:latin typeface="Fira Sans Condensed" panose="020B0503050000020004" pitchFamily="34" charset="0"/>
          </a:endParaRPr>
        </a:p>
      </dgm:t>
    </dgm:pt>
    <dgm:pt modelId="{42EDC764-DA4C-4A30-90D0-AD97BEE43230}" type="sibTrans" cxnId="{5E4EB21A-B288-45AB-9C53-45B62130602B}">
      <dgm:prSet/>
      <dgm:spPr/>
      <dgm:t>
        <a:bodyPr/>
        <a:lstStyle/>
        <a:p>
          <a:endParaRPr lang="en-US" b="0" i="0">
            <a:latin typeface="Fira Sans Condensed" panose="020B0503050000020004" pitchFamily="34" charset="0"/>
          </a:endParaRPr>
        </a:p>
      </dgm:t>
    </dgm:pt>
    <dgm:pt modelId="{91557C71-2927-4658-A6E8-76AD9C5B8A0F}">
      <dgm:prSet/>
      <dgm:spPr/>
      <dgm:t>
        <a:bodyPr/>
        <a:lstStyle/>
        <a:p>
          <a:r>
            <a:rPr lang="en-US" b="0" i="0">
              <a:latin typeface="Fira Sans Condensed" panose="020B0503050000020004" pitchFamily="34" charset="0"/>
            </a:rPr>
            <a:t>Command-line history</a:t>
          </a:r>
        </a:p>
      </dgm:t>
    </dgm:pt>
    <dgm:pt modelId="{25898F57-3278-4323-9790-9315DDC39217}" type="parTrans" cxnId="{1DFD8ADA-BCD7-4560-ADCB-7C63071BBF75}">
      <dgm:prSet/>
      <dgm:spPr/>
      <dgm:t>
        <a:bodyPr/>
        <a:lstStyle/>
        <a:p>
          <a:endParaRPr lang="en-US" b="0" i="0">
            <a:latin typeface="Fira Sans Condensed" panose="020B0503050000020004" pitchFamily="34" charset="0"/>
          </a:endParaRPr>
        </a:p>
      </dgm:t>
    </dgm:pt>
    <dgm:pt modelId="{DA9099DF-C8C7-4C89-83E7-AB063839B097}" type="sibTrans" cxnId="{1DFD8ADA-BCD7-4560-ADCB-7C63071BBF75}">
      <dgm:prSet/>
      <dgm:spPr/>
      <dgm:t>
        <a:bodyPr/>
        <a:lstStyle/>
        <a:p>
          <a:endParaRPr lang="en-US" b="0" i="0">
            <a:latin typeface="Fira Sans Condensed" panose="020B0503050000020004" pitchFamily="34" charset="0"/>
          </a:endParaRPr>
        </a:p>
      </dgm:t>
    </dgm:pt>
    <dgm:pt modelId="{E674534A-6C3E-4AC2-9A0A-F23929195A14}">
      <dgm:prSet/>
      <dgm:spPr/>
      <dgm:t>
        <a:bodyPr/>
        <a:lstStyle/>
        <a:p>
          <a:r>
            <a:rPr lang="en-US" b="0" i="0">
              <a:latin typeface="Fira Sans Condensed" panose="020B0503050000020004" pitchFamily="34" charset="0"/>
            </a:rPr>
            <a:t>Encryption keys!</a:t>
          </a:r>
        </a:p>
      </dgm:t>
    </dgm:pt>
    <dgm:pt modelId="{DBF3DAF0-5790-4BA2-B9C9-424CC4726794}" type="parTrans" cxnId="{8D579C9E-AABD-4835-B2F1-DDC14E8E0197}">
      <dgm:prSet/>
      <dgm:spPr/>
      <dgm:t>
        <a:bodyPr/>
        <a:lstStyle/>
        <a:p>
          <a:endParaRPr lang="en-US" b="0" i="0">
            <a:latin typeface="Fira Sans Condensed" panose="020B0503050000020004" pitchFamily="34" charset="0"/>
          </a:endParaRPr>
        </a:p>
      </dgm:t>
    </dgm:pt>
    <dgm:pt modelId="{23FEFFEF-D26E-421C-9890-03AABBCF468D}" type="sibTrans" cxnId="{8D579C9E-AABD-4835-B2F1-DDC14E8E0197}">
      <dgm:prSet/>
      <dgm:spPr/>
      <dgm:t>
        <a:bodyPr/>
        <a:lstStyle/>
        <a:p>
          <a:endParaRPr lang="en-US" b="0" i="0">
            <a:latin typeface="Fira Sans Condensed" panose="020B0503050000020004" pitchFamily="34" charset="0"/>
          </a:endParaRPr>
        </a:p>
      </dgm:t>
    </dgm:pt>
    <dgm:pt modelId="{F2E62926-A424-9D4A-A755-8DDA4F0A0E2C}" type="pres">
      <dgm:prSet presAssocID="{FD2DE6CB-88BB-494E-950B-50EE36867073}" presName="diagram" presStyleCnt="0">
        <dgm:presLayoutVars>
          <dgm:dir/>
          <dgm:resizeHandles val="exact"/>
        </dgm:presLayoutVars>
      </dgm:prSet>
      <dgm:spPr/>
    </dgm:pt>
    <dgm:pt modelId="{D4D9D0C4-D973-AD4E-A64F-9DB73A20C7A9}" type="pres">
      <dgm:prSet presAssocID="{61472DE8-21D4-4748-86B3-23A9EA7A9298}" presName="node" presStyleLbl="node1" presStyleIdx="0" presStyleCnt="8">
        <dgm:presLayoutVars>
          <dgm:bulletEnabled val="1"/>
        </dgm:presLayoutVars>
      </dgm:prSet>
      <dgm:spPr/>
    </dgm:pt>
    <dgm:pt modelId="{808A9773-E856-CB47-969C-81EEA63284D6}" type="pres">
      <dgm:prSet presAssocID="{80625ACF-33D4-489D-96B4-D71CD83A3993}" presName="sibTrans" presStyleCnt="0"/>
      <dgm:spPr/>
    </dgm:pt>
    <dgm:pt modelId="{5D2BB4EC-80F5-CB47-8A15-4B524D53D06B}" type="pres">
      <dgm:prSet presAssocID="{9B46193D-B864-4F75-AFBD-0F8523973BF6}" presName="node" presStyleLbl="node1" presStyleIdx="1" presStyleCnt="8">
        <dgm:presLayoutVars>
          <dgm:bulletEnabled val="1"/>
        </dgm:presLayoutVars>
      </dgm:prSet>
      <dgm:spPr/>
    </dgm:pt>
    <dgm:pt modelId="{669B6726-0674-EC41-BF7C-89B31707794D}" type="pres">
      <dgm:prSet presAssocID="{3F1EFEF7-1966-4428-84ED-8957B31AF40A}" presName="sibTrans" presStyleCnt="0"/>
      <dgm:spPr/>
    </dgm:pt>
    <dgm:pt modelId="{4FB06DD7-F102-EC4D-AF0A-89331DD64622}" type="pres">
      <dgm:prSet presAssocID="{048F834B-E3CE-44BF-B950-6039CF85D3DA}" presName="node" presStyleLbl="node1" presStyleIdx="2" presStyleCnt="8">
        <dgm:presLayoutVars>
          <dgm:bulletEnabled val="1"/>
        </dgm:presLayoutVars>
      </dgm:prSet>
      <dgm:spPr/>
    </dgm:pt>
    <dgm:pt modelId="{6D55D0C6-9F47-3D4D-A4DC-A59C5F01E589}" type="pres">
      <dgm:prSet presAssocID="{E37DF879-F149-463E-98FD-E9A8F3EBC4A4}" presName="sibTrans" presStyleCnt="0"/>
      <dgm:spPr/>
    </dgm:pt>
    <dgm:pt modelId="{3FC6E486-39B9-C64D-B6CC-02318B7FA91E}" type="pres">
      <dgm:prSet presAssocID="{EFC89A6A-533B-4E34-A1DF-D42CA73D454A}" presName="node" presStyleLbl="node1" presStyleIdx="3" presStyleCnt="8">
        <dgm:presLayoutVars>
          <dgm:bulletEnabled val="1"/>
        </dgm:presLayoutVars>
      </dgm:prSet>
      <dgm:spPr/>
    </dgm:pt>
    <dgm:pt modelId="{BB3294EE-8FF4-124B-8749-E32FA03F9D73}" type="pres">
      <dgm:prSet presAssocID="{B9C48BD1-FF92-424D-AD02-5A2CAF93A4C4}" presName="sibTrans" presStyleCnt="0"/>
      <dgm:spPr/>
    </dgm:pt>
    <dgm:pt modelId="{DB3EDBF4-96C0-3A4D-8DA0-4E3399735CBE}" type="pres">
      <dgm:prSet presAssocID="{6AC699A6-43F9-45DE-A909-9CB70E286A84}" presName="node" presStyleLbl="node1" presStyleIdx="4" presStyleCnt="8">
        <dgm:presLayoutVars>
          <dgm:bulletEnabled val="1"/>
        </dgm:presLayoutVars>
      </dgm:prSet>
      <dgm:spPr/>
    </dgm:pt>
    <dgm:pt modelId="{6144AFA6-71D8-9845-BC00-C506A311E537}" type="pres">
      <dgm:prSet presAssocID="{3C16C9D7-E7C2-4F28-BEF9-5D888B9B1CBC}" presName="sibTrans" presStyleCnt="0"/>
      <dgm:spPr/>
    </dgm:pt>
    <dgm:pt modelId="{A30087ED-C8C7-ED40-B9CF-9F76DFEA56EF}" type="pres">
      <dgm:prSet presAssocID="{75AEE892-4C96-4E8F-9D43-4017E10DCF8B}" presName="node" presStyleLbl="node1" presStyleIdx="5" presStyleCnt="8">
        <dgm:presLayoutVars>
          <dgm:bulletEnabled val="1"/>
        </dgm:presLayoutVars>
      </dgm:prSet>
      <dgm:spPr/>
    </dgm:pt>
    <dgm:pt modelId="{41205922-F1C4-F943-81D1-859310E89EC6}" type="pres">
      <dgm:prSet presAssocID="{42EDC764-DA4C-4A30-90D0-AD97BEE43230}" presName="sibTrans" presStyleCnt="0"/>
      <dgm:spPr/>
    </dgm:pt>
    <dgm:pt modelId="{A54F7669-ABED-F246-B04D-E0B66DEDABD5}" type="pres">
      <dgm:prSet presAssocID="{91557C71-2927-4658-A6E8-76AD9C5B8A0F}" presName="node" presStyleLbl="node1" presStyleIdx="6" presStyleCnt="8">
        <dgm:presLayoutVars>
          <dgm:bulletEnabled val="1"/>
        </dgm:presLayoutVars>
      </dgm:prSet>
      <dgm:spPr/>
    </dgm:pt>
    <dgm:pt modelId="{DB413A32-C651-1C4A-B441-48D923DC9ED0}" type="pres">
      <dgm:prSet presAssocID="{DA9099DF-C8C7-4C89-83E7-AB063839B097}" presName="sibTrans" presStyleCnt="0"/>
      <dgm:spPr/>
    </dgm:pt>
    <dgm:pt modelId="{04B983F4-94AD-4748-B530-3CAF78CC5602}" type="pres">
      <dgm:prSet presAssocID="{E674534A-6C3E-4AC2-9A0A-F23929195A14}" presName="node" presStyleLbl="node1" presStyleIdx="7" presStyleCnt="8">
        <dgm:presLayoutVars>
          <dgm:bulletEnabled val="1"/>
        </dgm:presLayoutVars>
      </dgm:prSet>
      <dgm:spPr/>
    </dgm:pt>
  </dgm:ptLst>
  <dgm:cxnLst>
    <dgm:cxn modelId="{F1FD0D14-D7E5-4989-BFED-34409145A385}" srcId="{FD2DE6CB-88BB-494E-950B-50EE36867073}" destId="{6AC699A6-43F9-45DE-A909-9CB70E286A84}" srcOrd="4" destOrd="0" parTransId="{C6D4012E-AF20-4C4E-80B4-A541B4FD12C5}" sibTransId="{3C16C9D7-E7C2-4F28-BEF9-5D888B9B1CBC}"/>
    <dgm:cxn modelId="{5E4EB21A-B288-45AB-9C53-45B62130602B}" srcId="{FD2DE6CB-88BB-494E-950B-50EE36867073}" destId="{75AEE892-4C96-4E8F-9D43-4017E10DCF8B}" srcOrd="5" destOrd="0" parTransId="{C49A4B3D-13E2-4E43-B4E1-29AE806EC196}" sibTransId="{42EDC764-DA4C-4A30-90D0-AD97BEE43230}"/>
    <dgm:cxn modelId="{0443061B-FD26-FC49-ADDB-B2B117C4CDCD}" type="presOf" srcId="{91557C71-2927-4658-A6E8-76AD9C5B8A0F}" destId="{A54F7669-ABED-F246-B04D-E0B66DEDABD5}" srcOrd="0" destOrd="0" presId="urn:microsoft.com/office/officeart/2005/8/layout/default"/>
    <dgm:cxn modelId="{B585B839-E81D-7148-BF33-8078A32DE540}" type="presOf" srcId="{E674534A-6C3E-4AC2-9A0A-F23929195A14}" destId="{04B983F4-94AD-4748-B530-3CAF78CC5602}" srcOrd="0" destOrd="0" presId="urn:microsoft.com/office/officeart/2005/8/layout/default"/>
    <dgm:cxn modelId="{99707943-114A-F946-AE41-1ED7F3FD75A9}" type="presOf" srcId="{048F834B-E3CE-44BF-B950-6039CF85D3DA}" destId="{4FB06DD7-F102-EC4D-AF0A-89331DD64622}" srcOrd="0" destOrd="0" presId="urn:microsoft.com/office/officeart/2005/8/layout/default"/>
    <dgm:cxn modelId="{639C6646-D485-407E-B339-79E495F4DFE8}" srcId="{FD2DE6CB-88BB-494E-950B-50EE36867073}" destId="{61472DE8-21D4-4748-86B3-23A9EA7A9298}" srcOrd="0" destOrd="0" parTransId="{AACF013B-D032-46D4-BD04-F762861AB871}" sibTransId="{80625ACF-33D4-489D-96B4-D71CD83A3993}"/>
    <dgm:cxn modelId="{2A45B954-32CB-4BD8-A293-5A60C48C2321}" srcId="{FD2DE6CB-88BB-494E-950B-50EE36867073}" destId="{EFC89A6A-533B-4E34-A1DF-D42CA73D454A}" srcOrd="3" destOrd="0" parTransId="{B3B3703D-DAFC-4CBD-9CBC-E3BEC8F648A0}" sibTransId="{B9C48BD1-FF92-424D-AD02-5A2CAF93A4C4}"/>
    <dgm:cxn modelId="{C09BC693-B576-F840-A0A1-918B101FDFB0}" type="presOf" srcId="{FD2DE6CB-88BB-494E-950B-50EE36867073}" destId="{F2E62926-A424-9D4A-A755-8DDA4F0A0E2C}" srcOrd="0" destOrd="0" presId="urn:microsoft.com/office/officeart/2005/8/layout/default"/>
    <dgm:cxn modelId="{D6D60296-9078-CD42-820B-5D794804190F}" type="presOf" srcId="{6AC699A6-43F9-45DE-A909-9CB70E286A84}" destId="{DB3EDBF4-96C0-3A4D-8DA0-4E3399735CBE}" srcOrd="0" destOrd="0" presId="urn:microsoft.com/office/officeart/2005/8/layout/default"/>
    <dgm:cxn modelId="{7F42BC9B-7876-FB4A-8345-3CCE9897367A}" type="presOf" srcId="{75AEE892-4C96-4E8F-9D43-4017E10DCF8B}" destId="{A30087ED-C8C7-ED40-B9CF-9F76DFEA56EF}" srcOrd="0" destOrd="0" presId="urn:microsoft.com/office/officeart/2005/8/layout/default"/>
    <dgm:cxn modelId="{8D579C9E-AABD-4835-B2F1-DDC14E8E0197}" srcId="{FD2DE6CB-88BB-494E-950B-50EE36867073}" destId="{E674534A-6C3E-4AC2-9A0A-F23929195A14}" srcOrd="7" destOrd="0" parTransId="{DBF3DAF0-5790-4BA2-B9C9-424CC4726794}" sibTransId="{23FEFFEF-D26E-421C-9890-03AABBCF468D}"/>
    <dgm:cxn modelId="{DC948E9F-F15A-4023-82B6-B2939AE4DE73}" srcId="{FD2DE6CB-88BB-494E-950B-50EE36867073}" destId="{048F834B-E3CE-44BF-B950-6039CF85D3DA}" srcOrd="2" destOrd="0" parTransId="{8834621A-C5C4-4A40-86D1-24E0AF7E983A}" sibTransId="{E37DF879-F149-463E-98FD-E9A8F3EBC4A4}"/>
    <dgm:cxn modelId="{4359FCA3-98D7-8246-8B1F-C0621220B9C9}" type="presOf" srcId="{61472DE8-21D4-4748-86B3-23A9EA7A9298}" destId="{D4D9D0C4-D973-AD4E-A64F-9DB73A20C7A9}" srcOrd="0" destOrd="0" presId="urn:microsoft.com/office/officeart/2005/8/layout/default"/>
    <dgm:cxn modelId="{CBD1E3B4-4F9D-4A81-B190-11D2BF722E9A}" srcId="{FD2DE6CB-88BB-494E-950B-50EE36867073}" destId="{9B46193D-B864-4F75-AFBD-0F8523973BF6}" srcOrd="1" destOrd="0" parTransId="{60CBFCE9-988D-4D62-84DA-894D60B14387}" sibTransId="{3F1EFEF7-1966-4428-84ED-8957B31AF40A}"/>
    <dgm:cxn modelId="{DB1976CA-2B54-2B42-A660-F1553C6EC2DC}" type="presOf" srcId="{9B46193D-B864-4F75-AFBD-0F8523973BF6}" destId="{5D2BB4EC-80F5-CB47-8A15-4B524D53D06B}" srcOrd="0" destOrd="0" presId="urn:microsoft.com/office/officeart/2005/8/layout/default"/>
    <dgm:cxn modelId="{B4C4FCD9-D40D-2B46-8BE1-A4284960492B}" type="presOf" srcId="{EFC89A6A-533B-4E34-A1DF-D42CA73D454A}" destId="{3FC6E486-39B9-C64D-B6CC-02318B7FA91E}" srcOrd="0" destOrd="0" presId="urn:microsoft.com/office/officeart/2005/8/layout/default"/>
    <dgm:cxn modelId="{1DFD8ADA-BCD7-4560-ADCB-7C63071BBF75}" srcId="{FD2DE6CB-88BB-494E-950B-50EE36867073}" destId="{91557C71-2927-4658-A6E8-76AD9C5B8A0F}" srcOrd="6" destOrd="0" parTransId="{25898F57-3278-4323-9790-9315DDC39217}" sibTransId="{DA9099DF-C8C7-4C89-83E7-AB063839B097}"/>
    <dgm:cxn modelId="{EE4CEE72-0273-8C4D-9A3F-0E5B2A1214F5}" type="presParOf" srcId="{F2E62926-A424-9D4A-A755-8DDA4F0A0E2C}" destId="{D4D9D0C4-D973-AD4E-A64F-9DB73A20C7A9}" srcOrd="0" destOrd="0" presId="urn:microsoft.com/office/officeart/2005/8/layout/default"/>
    <dgm:cxn modelId="{65A0E61D-05FA-6546-B2CF-6784C9A521C2}" type="presParOf" srcId="{F2E62926-A424-9D4A-A755-8DDA4F0A0E2C}" destId="{808A9773-E856-CB47-969C-81EEA63284D6}" srcOrd="1" destOrd="0" presId="urn:microsoft.com/office/officeart/2005/8/layout/default"/>
    <dgm:cxn modelId="{9A77BE79-52A8-7A47-876A-F952FBCC0210}" type="presParOf" srcId="{F2E62926-A424-9D4A-A755-8DDA4F0A0E2C}" destId="{5D2BB4EC-80F5-CB47-8A15-4B524D53D06B}" srcOrd="2" destOrd="0" presId="urn:microsoft.com/office/officeart/2005/8/layout/default"/>
    <dgm:cxn modelId="{40ABEE1D-E847-AA47-B976-501993FC2193}" type="presParOf" srcId="{F2E62926-A424-9D4A-A755-8DDA4F0A0E2C}" destId="{669B6726-0674-EC41-BF7C-89B31707794D}" srcOrd="3" destOrd="0" presId="urn:microsoft.com/office/officeart/2005/8/layout/default"/>
    <dgm:cxn modelId="{4AAD82F3-0B12-AA46-97EA-AEE142FC551D}" type="presParOf" srcId="{F2E62926-A424-9D4A-A755-8DDA4F0A0E2C}" destId="{4FB06DD7-F102-EC4D-AF0A-89331DD64622}" srcOrd="4" destOrd="0" presId="urn:microsoft.com/office/officeart/2005/8/layout/default"/>
    <dgm:cxn modelId="{48710DC8-581F-6E47-ACAE-1BC1218AB432}" type="presParOf" srcId="{F2E62926-A424-9D4A-A755-8DDA4F0A0E2C}" destId="{6D55D0C6-9F47-3D4D-A4DC-A59C5F01E589}" srcOrd="5" destOrd="0" presId="urn:microsoft.com/office/officeart/2005/8/layout/default"/>
    <dgm:cxn modelId="{217B66F1-0EAC-A746-BDE1-56DD319CE1CA}" type="presParOf" srcId="{F2E62926-A424-9D4A-A755-8DDA4F0A0E2C}" destId="{3FC6E486-39B9-C64D-B6CC-02318B7FA91E}" srcOrd="6" destOrd="0" presId="urn:microsoft.com/office/officeart/2005/8/layout/default"/>
    <dgm:cxn modelId="{DFE2910E-2EEE-F143-9ABC-9FFC85F7C89A}" type="presParOf" srcId="{F2E62926-A424-9D4A-A755-8DDA4F0A0E2C}" destId="{BB3294EE-8FF4-124B-8749-E32FA03F9D73}" srcOrd="7" destOrd="0" presId="urn:microsoft.com/office/officeart/2005/8/layout/default"/>
    <dgm:cxn modelId="{B58D142E-A024-F248-8995-396AE5E0887F}" type="presParOf" srcId="{F2E62926-A424-9D4A-A755-8DDA4F0A0E2C}" destId="{DB3EDBF4-96C0-3A4D-8DA0-4E3399735CBE}" srcOrd="8" destOrd="0" presId="urn:microsoft.com/office/officeart/2005/8/layout/default"/>
    <dgm:cxn modelId="{4C37BDA7-AD55-F04F-A678-2F23239E37FD}" type="presParOf" srcId="{F2E62926-A424-9D4A-A755-8DDA4F0A0E2C}" destId="{6144AFA6-71D8-9845-BC00-C506A311E537}" srcOrd="9" destOrd="0" presId="urn:microsoft.com/office/officeart/2005/8/layout/default"/>
    <dgm:cxn modelId="{203A083E-1C31-6543-86EA-89F83A01F98B}" type="presParOf" srcId="{F2E62926-A424-9D4A-A755-8DDA4F0A0E2C}" destId="{A30087ED-C8C7-ED40-B9CF-9F76DFEA56EF}" srcOrd="10" destOrd="0" presId="urn:microsoft.com/office/officeart/2005/8/layout/default"/>
    <dgm:cxn modelId="{161CF284-77AB-1140-9DCF-F37E4EF2C100}" type="presParOf" srcId="{F2E62926-A424-9D4A-A755-8DDA4F0A0E2C}" destId="{41205922-F1C4-F943-81D1-859310E89EC6}" srcOrd="11" destOrd="0" presId="urn:microsoft.com/office/officeart/2005/8/layout/default"/>
    <dgm:cxn modelId="{D722EE9E-F1CB-0643-83FE-8C1D215DA09C}" type="presParOf" srcId="{F2E62926-A424-9D4A-A755-8DDA4F0A0E2C}" destId="{A54F7669-ABED-F246-B04D-E0B66DEDABD5}" srcOrd="12" destOrd="0" presId="urn:microsoft.com/office/officeart/2005/8/layout/default"/>
    <dgm:cxn modelId="{DC8C67E8-2434-3949-94C5-9019ECB5E03A}" type="presParOf" srcId="{F2E62926-A424-9D4A-A755-8DDA4F0A0E2C}" destId="{DB413A32-C651-1C4A-B441-48D923DC9ED0}" srcOrd="13" destOrd="0" presId="urn:microsoft.com/office/officeart/2005/8/layout/default"/>
    <dgm:cxn modelId="{E992006D-1BFA-054D-9DE5-5E3F170C2A29}" type="presParOf" srcId="{F2E62926-A424-9D4A-A755-8DDA4F0A0E2C}" destId="{04B983F4-94AD-4748-B530-3CAF78CC5602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CA77F3-95C5-4452-81E4-BB8962547421}">
      <dsp:nvSpPr>
        <dsp:cNvPr id="0" name=""/>
        <dsp:cNvSpPr/>
      </dsp:nvSpPr>
      <dsp:spPr>
        <a:xfrm>
          <a:off x="555314" y="0"/>
          <a:ext cx="6293564" cy="1398545"/>
        </a:xfrm>
        <a:prstGeom prst="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38C384-85A7-4E79-A615-DF2DD5AB6C10}">
      <dsp:nvSpPr>
        <dsp:cNvPr id="0" name=""/>
        <dsp:cNvSpPr/>
      </dsp:nvSpPr>
      <dsp:spPr>
        <a:xfrm>
          <a:off x="2598" y="419563"/>
          <a:ext cx="2359679" cy="559418"/>
        </a:xfrm>
        <a:prstGeom prst="roundRect">
          <a:avLst/>
        </a:prstGeom>
        <a:solidFill>
          <a:srgbClr val="92D05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Segmentation</a:t>
          </a:r>
        </a:p>
      </dsp:txBody>
      <dsp:txXfrm>
        <a:off x="29907" y="446872"/>
        <a:ext cx="2305061" cy="504800"/>
      </dsp:txXfrm>
    </dsp:sp>
    <dsp:sp modelId="{B45681FB-4665-43B7-A40B-DBF038DAD78C}">
      <dsp:nvSpPr>
        <dsp:cNvPr id="0" name=""/>
        <dsp:cNvSpPr/>
      </dsp:nvSpPr>
      <dsp:spPr>
        <a:xfrm>
          <a:off x="2522256" y="387995"/>
          <a:ext cx="2359679" cy="559418"/>
        </a:xfrm>
        <a:prstGeom prst="roundRect">
          <a:avLst/>
        </a:prstGeom>
        <a:solidFill>
          <a:srgbClr val="6060C8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Paging</a:t>
          </a:r>
        </a:p>
      </dsp:txBody>
      <dsp:txXfrm>
        <a:off x="2549565" y="415304"/>
        <a:ext cx="2305061" cy="504800"/>
      </dsp:txXfrm>
    </dsp:sp>
    <dsp:sp modelId="{9783BC9F-10A0-4555-84F6-EA3BDEAFAEA6}">
      <dsp:nvSpPr>
        <dsp:cNvPr id="0" name=""/>
        <dsp:cNvSpPr/>
      </dsp:nvSpPr>
      <dsp:spPr>
        <a:xfrm>
          <a:off x="5041914" y="419563"/>
          <a:ext cx="2359679" cy="559418"/>
        </a:xfrm>
        <a:prstGeom prst="roundRect">
          <a:avLst/>
        </a:prstGeom>
        <a:solidFill>
          <a:schemeClr val="accent2">
            <a:lumMod val="40000"/>
            <a:lumOff val="6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Physical Address</a:t>
          </a:r>
        </a:p>
      </dsp:txBody>
      <dsp:txXfrm>
        <a:off x="5069223" y="446872"/>
        <a:ext cx="2305061" cy="5048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D9D0C4-D973-AD4E-A64F-9DB73A20C7A9}">
      <dsp:nvSpPr>
        <dsp:cNvPr id="0" name=""/>
        <dsp:cNvSpPr/>
      </dsp:nvSpPr>
      <dsp:spPr>
        <a:xfrm>
          <a:off x="2226" y="262385"/>
          <a:ext cx="1766073" cy="105964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>
              <a:latin typeface="Fira Sans Condensed" panose="020B0503050000020004" pitchFamily="34" charset="0"/>
            </a:rPr>
            <a:t>Command &amp; Control (C2) communication</a:t>
          </a:r>
        </a:p>
      </dsp:txBody>
      <dsp:txXfrm>
        <a:off x="2226" y="262385"/>
        <a:ext cx="1766073" cy="1059644"/>
      </dsp:txXfrm>
    </dsp:sp>
    <dsp:sp modelId="{5D2BB4EC-80F5-CB47-8A15-4B524D53D06B}">
      <dsp:nvSpPr>
        <dsp:cNvPr id="0" name=""/>
        <dsp:cNvSpPr/>
      </dsp:nvSpPr>
      <dsp:spPr>
        <a:xfrm>
          <a:off x="1944906" y="262385"/>
          <a:ext cx="1766073" cy="105964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>
              <a:latin typeface="Fira Sans Condensed" panose="020B0503050000020004" pitchFamily="34" charset="0"/>
            </a:rPr>
            <a:t>Hidden processes</a:t>
          </a:r>
        </a:p>
      </dsp:txBody>
      <dsp:txXfrm>
        <a:off x="1944906" y="262385"/>
        <a:ext cx="1766073" cy="1059644"/>
      </dsp:txXfrm>
    </dsp:sp>
    <dsp:sp modelId="{4FB06DD7-F102-EC4D-AF0A-89331DD64622}">
      <dsp:nvSpPr>
        <dsp:cNvPr id="0" name=""/>
        <dsp:cNvSpPr/>
      </dsp:nvSpPr>
      <dsp:spPr>
        <a:xfrm>
          <a:off x="3887587" y="262385"/>
          <a:ext cx="1766073" cy="105964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>
              <a:latin typeface="Fira Sans Condensed" panose="020B0503050000020004" pitchFamily="34" charset="0"/>
            </a:rPr>
            <a:t>Process/DLL injection evidence</a:t>
          </a:r>
        </a:p>
      </dsp:txBody>
      <dsp:txXfrm>
        <a:off x="3887587" y="262385"/>
        <a:ext cx="1766073" cy="1059644"/>
      </dsp:txXfrm>
    </dsp:sp>
    <dsp:sp modelId="{3FC6E486-39B9-C64D-B6CC-02318B7FA91E}">
      <dsp:nvSpPr>
        <dsp:cNvPr id="0" name=""/>
        <dsp:cNvSpPr/>
      </dsp:nvSpPr>
      <dsp:spPr>
        <a:xfrm>
          <a:off x="5830268" y="262385"/>
          <a:ext cx="1766073" cy="105964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>
              <a:latin typeface="Fira Sans Condensed" panose="020B0503050000020004" pitchFamily="34" charset="0"/>
            </a:rPr>
            <a:t>Non-standard/infamous binaries/mutexes</a:t>
          </a:r>
        </a:p>
      </dsp:txBody>
      <dsp:txXfrm>
        <a:off x="5830268" y="262385"/>
        <a:ext cx="1766073" cy="1059644"/>
      </dsp:txXfrm>
    </dsp:sp>
    <dsp:sp modelId="{DB3EDBF4-96C0-3A4D-8DA0-4E3399735CBE}">
      <dsp:nvSpPr>
        <dsp:cNvPr id="0" name=""/>
        <dsp:cNvSpPr/>
      </dsp:nvSpPr>
      <dsp:spPr>
        <a:xfrm>
          <a:off x="2226" y="1498636"/>
          <a:ext cx="1766073" cy="105964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>
              <a:latin typeface="Fira Sans Condensed" panose="020B0503050000020004" pitchFamily="34" charset="0"/>
            </a:rPr>
            <a:t>Open sockets and files</a:t>
          </a:r>
        </a:p>
      </dsp:txBody>
      <dsp:txXfrm>
        <a:off x="2226" y="1498636"/>
        <a:ext cx="1766073" cy="1059644"/>
      </dsp:txXfrm>
    </dsp:sp>
    <dsp:sp modelId="{A30087ED-C8C7-ED40-B9CF-9F76DFEA56EF}">
      <dsp:nvSpPr>
        <dsp:cNvPr id="0" name=""/>
        <dsp:cNvSpPr/>
      </dsp:nvSpPr>
      <dsp:spPr>
        <a:xfrm>
          <a:off x="1944906" y="1498636"/>
          <a:ext cx="1766073" cy="105964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>
              <a:latin typeface="Fira Sans Condensed" panose="020B0503050000020004" pitchFamily="34" charset="0"/>
            </a:rPr>
            <a:t>Registry records</a:t>
          </a:r>
        </a:p>
      </dsp:txBody>
      <dsp:txXfrm>
        <a:off x="1944906" y="1498636"/>
        <a:ext cx="1766073" cy="1059644"/>
      </dsp:txXfrm>
    </dsp:sp>
    <dsp:sp modelId="{A54F7669-ABED-F246-B04D-E0B66DEDABD5}">
      <dsp:nvSpPr>
        <dsp:cNvPr id="0" name=""/>
        <dsp:cNvSpPr/>
      </dsp:nvSpPr>
      <dsp:spPr>
        <a:xfrm>
          <a:off x="3887587" y="1498636"/>
          <a:ext cx="1766073" cy="105964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>
              <a:latin typeface="Fira Sans Condensed" panose="020B0503050000020004" pitchFamily="34" charset="0"/>
            </a:rPr>
            <a:t>Command-line history</a:t>
          </a:r>
        </a:p>
      </dsp:txBody>
      <dsp:txXfrm>
        <a:off x="3887587" y="1498636"/>
        <a:ext cx="1766073" cy="1059644"/>
      </dsp:txXfrm>
    </dsp:sp>
    <dsp:sp modelId="{04B983F4-94AD-4748-B530-3CAF78CC5602}">
      <dsp:nvSpPr>
        <dsp:cNvPr id="0" name=""/>
        <dsp:cNvSpPr/>
      </dsp:nvSpPr>
      <dsp:spPr>
        <a:xfrm>
          <a:off x="5830268" y="1498636"/>
          <a:ext cx="1766073" cy="105964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>
              <a:latin typeface="Fira Sans Condensed" panose="020B0503050000020004" pitchFamily="34" charset="0"/>
            </a:rPr>
            <a:t>Encryption keys!</a:t>
          </a:r>
        </a:p>
      </dsp:txBody>
      <dsp:txXfrm>
        <a:off x="5830268" y="1498636"/>
        <a:ext cx="1766073" cy="10596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7137" cy="511813"/>
          </a:xfrm>
          <a:prstGeom prst="rect">
            <a:avLst/>
          </a:prstGeom>
        </p:spPr>
        <p:txBody>
          <a:bodyPr vert="horz" lIns="95500" tIns="47750" rIns="95500" bIns="47750" rtlCol="0"/>
          <a:lstStyle>
            <a:lvl1pPr algn="l">
              <a:defRPr sz="1300" smtClean="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4020506" y="1"/>
            <a:ext cx="3077137" cy="511813"/>
          </a:xfrm>
          <a:prstGeom prst="rect">
            <a:avLst/>
          </a:prstGeom>
        </p:spPr>
        <p:txBody>
          <a:bodyPr vert="horz" lIns="95500" tIns="47750" rIns="95500" bIns="47750" rtlCol="0"/>
          <a:lstStyle>
            <a:lvl1pPr algn="r">
              <a:defRPr sz="1300" smtClean="0"/>
            </a:lvl1pPr>
          </a:lstStyle>
          <a:p>
            <a:pPr>
              <a:defRPr/>
            </a:pPr>
            <a:fld id="{281D9DC7-60FB-481D-B360-7AA869485673}" type="datetimeFigureOut">
              <a:rPr lang="cs-CZ"/>
              <a:pPr>
                <a:defRPr/>
              </a:pPr>
              <a:t>28.03.2025</a:t>
            </a:fld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4020506" y="9745479"/>
            <a:ext cx="3077137" cy="487488"/>
          </a:xfrm>
          <a:prstGeom prst="rect">
            <a:avLst/>
          </a:prstGeom>
        </p:spPr>
        <p:txBody>
          <a:bodyPr vert="horz" lIns="95500" tIns="47750" rIns="95500" bIns="47750" rtlCol="0" anchor="b"/>
          <a:lstStyle>
            <a:lvl1pPr algn="r">
              <a:defRPr sz="1300" smtClean="0"/>
            </a:lvl1pPr>
          </a:lstStyle>
          <a:p>
            <a:pPr>
              <a:defRPr/>
            </a:pPr>
            <a:fld id="{E587F38C-DA6E-45CD-A1EC-8060F697074C}" type="slidenum">
              <a:rPr lang="cs-CZ"/>
              <a:pPr>
                <a:defRPr/>
              </a:pPr>
              <a:t>‹#›</a:t>
            </a:fld>
            <a:endParaRPr lang="cs-CZ" dirty="0"/>
          </a:p>
        </p:txBody>
      </p:sp>
      <p:sp>
        <p:nvSpPr>
          <p:cNvPr id="7" name="Zástupný symbol pro zápatí 6"/>
          <p:cNvSpPr>
            <a:spLocks noGrp="1"/>
          </p:cNvSpPr>
          <p:nvPr>
            <p:ph type="ftr" sz="quarter" idx="2"/>
          </p:nvPr>
        </p:nvSpPr>
        <p:spPr>
          <a:xfrm>
            <a:off x="1" y="9721155"/>
            <a:ext cx="3077137" cy="511812"/>
          </a:xfrm>
          <a:prstGeom prst="rect">
            <a:avLst/>
          </a:prstGeom>
        </p:spPr>
        <p:txBody>
          <a:bodyPr vert="horz" lIns="95500" tIns="47750" rIns="95500" bIns="47750" rtlCol="0" anchor="b"/>
          <a:lstStyle>
            <a:lvl1pPr algn="l">
              <a:defRPr sz="1300"/>
            </a:lvl1pPr>
          </a:lstStyle>
          <a:p>
            <a:r>
              <a:rPr lang="cs-CZ"/>
              <a:t>| http://dior.ics.muni.cz/~valor/labak2014/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8921883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7137" cy="511813"/>
          </a:xfrm>
          <a:prstGeom prst="rect">
            <a:avLst/>
          </a:prstGeom>
        </p:spPr>
        <p:txBody>
          <a:bodyPr vert="horz" lIns="95500" tIns="47750" rIns="95500" bIns="4775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4020506" y="1"/>
            <a:ext cx="3077137" cy="511813"/>
          </a:xfrm>
          <a:prstGeom prst="rect">
            <a:avLst/>
          </a:prstGeom>
        </p:spPr>
        <p:txBody>
          <a:bodyPr vert="horz" lIns="95500" tIns="47750" rIns="95500" bIns="4775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88430E7B-8391-4B76-9996-05F39D470192}" type="datetimeFigureOut">
              <a:rPr lang="cs-CZ"/>
              <a:pPr>
                <a:defRPr/>
              </a:pPr>
              <a:t>28.03.2025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768350"/>
            <a:ext cx="613727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00" tIns="47750" rIns="95500" bIns="47750" rtlCol="0" anchor="ctr"/>
          <a:lstStyle/>
          <a:p>
            <a:pPr lvl="0"/>
            <a:endParaRPr lang="cs-CZ" noProof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709600" y="4861400"/>
            <a:ext cx="5680103" cy="4606317"/>
          </a:xfrm>
          <a:prstGeom prst="rect">
            <a:avLst/>
          </a:prstGeom>
        </p:spPr>
        <p:txBody>
          <a:bodyPr vert="horz" lIns="95500" tIns="47750" rIns="95500" bIns="47750" rtlCol="0"/>
          <a:lstStyle/>
          <a:p>
            <a:pPr lvl="0"/>
            <a:r>
              <a:rPr lang="cs-CZ" noProof="0"/>
              <a:t>Kliknutím lze upravit styly předlohy textu.</a:t>
            </a:r>
          </a:p>
          <a:p>
            <a:pPr lvl="1"/>
            <a:r>
              <a:rPr lang="cs-CZ" noProof="0"/>
              <a:t>Druhá úroveň</a:t>
            </a:r>
          </a:p>
          <a:p>
            <a:pPr lvl="2"/>
            <a:r>
              <a:rPr lang="cs-CZ" noProof="0"/>
              <a:t>Třetí úroveň</a:t>
            </a:r>
          </a:p>
          <a:p>
            <a:pPr lvl="3"/>
            <a:r>
              <a:rPr lang="cs-CZ" noProof="0"/>
              <a:t>Čtvrtá úroveň</a:t>
            </a:r>
          </a:p>
          <a:p>
            <a:pPr lvl="4"/>
            <a:r>
              <a:rPr lang="cs-CZ" noProof="0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1" y="9721155"/>
            <a:ext cx="3077137" cy="511812"/>
          </a:xfrm>
          <a:prstGeom prst="rect">
            <a:avLst/>
          </a:prstGeom>
        </p:spPr>
        <p:txBody>
          <a:bodyPr vert="horz" lIns="95500" tIns="47750" rIns="95500" bIns="4775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r>
              <a:rPr lang="cs-CZ"/>
              <a:t>| http://dior.ics.muni.cz/~valor/labak2014/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4020506" y="9721155"/>
            <a:ext cx="3077137" cy="511812"/>
          </a:xfrm>
          <a:prstGeom prst="rect">
            <a:avLst/>
          </a:prstGeom>
        </p:spPr>
        <p:txBody>
          <a:bodyPr vert="horz" lIns="95500" tIns="47750" rIns="95500" bIns="4775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484370BB-E9F5-43C3-BA0C-E22917C22812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861832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lackhat.com/presentations/bh-usa-04/bh-us-04-butler/bh-us-04-butler.pdf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secure.net/responder-pro" TargetMode="External"/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cdn2.hubspot.net/hubfs/150964/CounterTack_DDNA_SCMagazine_030117-1.pdf?t=1495723489966&amp;__hstc=&amp;__hssc=&amp;hsCtaTracking=18aabc2a-88fc-46f2-9de8-4de89e22de86%7Cb02adedf-d309-4687-870d-eee1b1675455" TargetMode="Externa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481013" y="768350"/>
            <a:ext cx="6137275" cy="3836988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4370BB-E9F5-43C3-BA0C-E22917C22812}" type="slidenum">
              <a:rPr lang="cs-CZ" smtClean="0"/>
              <a:pPr>
                <a:defRPr/>
              </a:pPr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31486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1013" y="768350"/>
            <a:ext cx="613727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xkcd.com</a:t>
            </a:r>
            <a:r>
              <a:rPr lang="en-US" dirty="0"/>
              <a:t>/1328/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What’s the real cause of all the security issues on laptops and desktops? This one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84370BB-E9F5-43C3-BA0C-E22917C22812}" type="slidenum">
              <a:rPr lang="cs-CZ" smtClean="0"/>
              <a:pPr>
                <a:defRPr/>
              </a:pPr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0690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1013" y="768350"/>
            <a:ext cx="613727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xkcd.com</a:t>
            </a:r>
            <a:r>
              <a:rPr lang="en-US" dirty="0"/>
              <a:t>/1353/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Or you could consider </a:t>
            </a:r>
            <a:r>
              <a:rPr lang="en-US" dirty="0" err="1"/>
              <a:t>Spectre</a:t>
            </a:r>
            <a:r>
              <a:rPr lang="en-US" dirty="0"/>
              <a:t>, which (in 2021) still has some related techniques and attacks and hasn’t been fully mitigated yet.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84370BB-E9F5-43C3-BA0C-E22917C22812}" type="slidenum">
              <a:rPr lang="cs-CZ" smtClean="0"/>
              <a:pPr>
                <a:defRPr/>
              </a:pPr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149329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anybody guess what’s this stuff for? It’s actually used for transportation of desktops/servers from their original location to a forensic lab somewhere else, without any power interruption. So that it can preserve the RAM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84370BB-E9F5-43C3-BA0C-E22917C22812}" type="slidenum">
              <a:rPr lang="cs-CZ" smtClean="0"/>
              <a:pPr>
                <a:defRPr/>
              </a:pPr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472350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note about aarch64 could be added later in the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84370BB-E9F5-43C3-BA0C-E22917C22812}" type="slidenum">
              <a:rPr lang="cs-CZ" smtClean="0"/>
              <a:pPr>
                <a:defRPr/>
              </a:pPr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0185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sizes: 4 kB, 2 MB, 1 GB (and proposed 512 GB)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84370BB-E9F5-43C3-BA0C-E22917C22812}" type="slidenum">
              <a:rPr lang="cs-CZ" smtClean="0"/>
              <a:pPr>
                <a:defRPr/>
              </a:pPr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160640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1013" y="768350"/>
            <a:ext cx="613727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https://</a:t>
            </a:r>
            <a:r>
              <a:rPr lang="en-US" noProof="0" dirty="0" err="1"/>
              <a:t>minnie.tuhs.org</a:t>
            </a:r>
            <a:r>
              <a:rPr lang="en-US" noProof="0" dirty="0"/>
              <a:t>/</a:t>
            </a:r>
            <a:r>
              <a:rPr lang="en-US" noProof="0" dirty="0" err="1"/>
              <a:t>CompArch</a:t>
            </a:r>
            <a:r>
              <a:rPr lang="en-US" noProof="0" dirty="0"/>
              <a:t>/Lectures/week06.html</a:t>
            </a:r>
          </a:p>
          <a:p>
            <a:endParaRPr lang="en-US" noProof="0" dirty="0"/>
          </a:p>
          <a:p>
            <a:r>
              <a:rPr lang="en-US" noProof="0" dirty="0"/>
              <a:t>In other worlds, various processes are sharing the physical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370BB-E9F5-43C3-BA0C-E22917C22812}" type="slidenum">
              <a:rPr lang="cs-CZ" smtClean="0"/>
              <a:pPr>
                <a:defRPr/>
              </a:pPr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291035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1013" y="768350"/>
            <a:ext cx="613727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xkcd.com</a:t>
            </a:r>
            <a:r>
              <a:rPr lang="en-US" dirty="0"/>
              <a:t>/138/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84370BB-E9F5-43C3-BA0C-E22917C22812}" type="slidenum">
              <a:rPr lang="cs-CZ" smtClean="0"/>
              <a:pPr>
                <a:defRPr/>
              </a:pPr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62068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758AA-3194-940B-3686-2086E622A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321CD4-FADA-7967-D06F-22A36D2072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1457B5-27F8-02EE-BC0C-F646EA8713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note about aarch64 could be added later. In general, it looks somewhat similar to x86_64, there’s a TLB, there are pages (4k or 64k), and multiple levels of page tables (up to XY, I don’t remember now).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B8BDC-1D7D-2749-3A1C-66B0A060F2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84370BB-E9F5-43C3-BA0C-E22917C22812}" type="slidenum">
              <a:rPr lang="cs-CZ" smtClean="0"/>
              <a:pPr>
                <a:defRPr/>
              </a:pPr>
              <a:t>18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86866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AEF7F-3376-F6A0-A737-98D99B558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FF75FF-FE11-00C7-6EA7-7B8108725F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E0247-D07D-CC19-BA0A-6065E2B18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note about aarch64 could be added later. In general, it looks somewhat similar to x86_64, there’s a TLB, there are pages (4k or 2MB and 1 GB), and multiple levels (4-level page tables) of page tables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79FDC-953B-2731-4EFB-B3C7ACFBFC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84370BB-E9F5-43C3-BA0C-E22917C22812}" type="slidenum">
              <a:rPr lang="cs-CZ" smtClean="0"/>
              <a:pPr>
                <a:defRPr/>
              </a:pPr>
              <a:t>19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91673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1013" y="768350"/>
            <a:ext cx="613727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hlinkClick r:id="rId3"/>
              </a:rPr>
              <a:t>http://www.blackhat.com/presentations/bh-usa-04/bh-us-04-butler/bh-us-04-butler.pdf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370BB-E9F5-43C3-BA0C-E22917C22812}" type="slidenum">
              <a:rPr lang="cs-CZ" smtClean="0"/>
              <a:pPr>
                <a:defRPr/>
              </a:pPr>
              <a:t>23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699622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1013" y="768350"/>
            <a:ext cx="613727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www.endgame.com</a:t>
            </a:r>
            <a:r>
              <a:rPr lang="en-US" dirty="0"/>
              <a:t>/blog/technical-blog/ten-process-injection-techniques-technical-survey-common-and-trending-process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84370BB-E9F5-43C3-BA0C-E22917C22812}" type="slidenum">
              <a:rPr lang="cs-CZ" smtClean="0"/>
              <a:pPr>
                <a:defRPr/>
              </a:pPr>
              <a:t>27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442749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1013" y="768350"/>
            <a:ext cx="613727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xkcd.com</a:t>
            </a:r>
            <a:r>
              <a:rPr lang="en-US" dirty="0"/>
              <a:t>/1197/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joke is from 2013, but it’s still pretty good and accurate, I am afraid. There’s no extra meaning of this joke right here, it’s just to give you a short break and relax a 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84370BB-E9F5-43C3-BA0C-E22917C22812}" type="slidenum">
              <a:rPr lang="cs-CZ" smtClean="0"/>
              <a:pPr>
                <a:defRPr/>
              </a:pPr>
              <a:t>29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535248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84370BB-E9F5-43C3-BA0C-E22917C22812}" type="slidenum">
              <a:rPr lang="cs-CZ" smtClean="0"/>
              <a:pPr>
                <a:defRPr/>
              </a:pPr>
              <a:t>36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048691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Support for OS X and Linux memory artifacts was added in 2020, so it’s rather 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84370BB-E9F5-43C3-BA0C-E22917C22812}" type="slidenum">
              <a:rPr lang="cs-CZ" smtClean="0"/>
              <a:pPr>
                <a:defRPr/>
              </a:pPr>
              <a:t>39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4357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1013" y="768350"/>
            <a:ext cx="613727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Obsolete and unavailable at for a long time, but it had interesting features – and there’s a professional alternative already: </a:t>
            </a:r>
            <a:r>
              <a:rPr lang="en-US" dirty="0">
                <a:hlinkClick r:id="rId3"/>
              </a:rPr>
              <a:t>https://www.gosecure.net/responder-pro</a:t>
            </a:r>
            <a:endParaRPr lang="en-US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hlinkClick r:id="rId4"/>
              </a:rPr>
              <a:t>https://cdn2.hubspot.net/hubfs/150964/CounterTack_DDNA_SCMagazine_030117-1.pdf?t=1495723489966&amp;__hstc=&amp;__hssc=&amp;hsCtaTracking=18aabc2a-88fc-46f2-9de8-4de89e22de86%7Cb02adedf-d309-4687-870d-eee1b1675455</a:t>
            </a:r>
            <a:endParaRPr lang="en-US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84370BB-E9F5-43C3-BA0C-E22917C22812}" type="slidenum">
              <a:rPr lang="cs-CZ" smtClean="0"/>
              <a:pPr>
                <a:defRPr/>
              </a:pPr>
              <a:t>44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434465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1013" y="768350"/>
            <a:ext cx="613727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http://</a:t>
            </a:r>
            <a:r>
              <a:rPr lang="cs-CZ" dirty="0" err="1"/>
              <a:t>hexacorn.com</a:t>
            </a:r>
            <a:r>
              <a:rPr lang="cs-CZ" dirty="0"/>
              <a:t>/</a:t>
            </a:r>
            <a:r>
              <a:rPr lang="cs-CZ" dirty="0" err="1"/>
              <a:t>examples</a:t>
            </a:r>
            <a:r>
              <a:rPr lang="cs-CZ" dirty="0"/>
              <a:t>/2014-12-24_santas_bag_of_mutants.txt</a:t>
            </a:r>
          </a:p>
          <a:p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4370BB-E9F5-43C3-BA0C-E22917C22812}" type="slidenum">
              <a:rPr lang="cs-CZ" smtClean="0"/>
              <a:pPr>
                <a:defRPr/>
              </a:pPr>
              <a:t>53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04775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It’s usually not about snapshotting the memory (or a single memory snapshot), but about tracking changes, tracing code execution, and instrumenting the emulator (or the code) what to do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84370BB-E9F5-43C3-BA0C-E22917C22812}" type="slidenum">
              <a:rPr lang="cs-CZ" smtClean="0"/>
              <a:pPr>
                <a:defRPr/>
              </a:pPr>
              <a:t>55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07460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7135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71799" y="1636889"/>
            <a:ext cx="5398295" cy="2017887"/>
          </a:xfrm>
        </p:spPr>
        <p:txBody>
          <a:bodyPr anchor="b">
            <a:normAutofit/>
          </a:bodyPr>
          <a:lstStyle>
            <a:lvl1pPr algn="r">
              <a:defRPr sz="3600" b="1" i="0">
                <a:effectLst/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1799" y="3654777"/>
            <a:ext cx="5398295" cy="1171223"/>
          </a:xfrm>
        </p:spPr>
        <p:txBody>
          <a:bodyPr anchor="t">
            <a:normAutofit/>
          </a:bodyPr>
          <a:lstStyle>
            <a:lvl1pPr marL="0" indent="0" algn="r">
              <a:buNone/>
              <a:defRPr sz="1350" cap="all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419" y="4892146"/>
            <a:ext cx="1200150" cy="314854"/>
          </a:xfrm>
        </p:spPr>
        <p:txBody>
          <a:bodyPr/>
          <a:lstStyle/>
          <a:p>
            <a:r>
              <a:rPr lang="en-US" noProof="0"/>
              <a:t>© 2019 HERE | Confidential</a:t>
            </a:r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71799" y="4892146"/>
            <a:ext cx="3670469" cy="314854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56719" y="4892146"/>
            <a:ext cx="413375" cy="314854"/>
          </a:xfrm>
        </p:spPr>
        <p:txBody>
          <a:bodyPr/>
          <a:lstStyle/>
          <a:p>
            <a:pPr>
              <a:defRPr/>
            </a:pPr>
            <a:fld id="{7EC21CA0-2CA7-47F4-B597-FCA32B78883B}" type="slidenum">
              <a:rPr lang="cs-CZ" smtClean="0"/>
              <a:pPr>
                <a:defRPr/>
              </a:pPr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50273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7135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© 2019 HERE | Confidential</a:t>
            </a:r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21CA0-2CA7-47F4-B597-FCA32B78883B}" type="slidenum">
              <a:rPr lang="cs-CZ" smtClean="0"/>
              <a:pPr>
                <a:defRPr/>
              </a:pPr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29440378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7135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2757151"/>
            <a:ext cx="7598570" cy="1224000"/>
          </a:xfrm>
        </p:spPr>
        <p:txBody>
          <a:bodyPr anchor="b"/>
          <a:lstStyle>
            <a:lvl1pPr algn="l">
              <a:defRPr sz="30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49" y="3981151"/>
            <a:ext cx="7598571" cy="7170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 cap="all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© 2019 HERE | Confidential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21CA0-2CA7-47F4-B597-FCA32B78883B}" type="slidenum">
              <a:rPr lang="cs-CZ" smtClean="0"/>
              <a:pPr>
                <a:defRPr/>
              </a:pPr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5043422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7135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1" y="1785056"/>
            <a:ext cx="3746501" cy="304094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66421" y="1785056"/>
            <a:ext cx="3746499" cy="304094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© 2019 HERE | Confidential</a:t>
            </a:r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21CA0-2CA7-47F4-B597-FCA32B78883B}" type="slidenum">
              <a:rPr lang="cs-CZ" smtClean="0"/>
              <a:pPr>
                <a:defRPr/>
              </a:pPr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49466071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0252" y="1848556"/>
            <a:ext cx="3531791" cy="480218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1" y="2391834"/>
            <a:ext cx="3747692" cy="243416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3" y="1855612"/>
            <a:ext cx="3542110" cy="480218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67612" y="2391834"/>
            <a:ext cx="3746501" cy="243416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© 2019 HERE | Confidential</a:t>
            </a:r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21CA0-2CA7-47F4-B597-FCA32B78883B}" type="slidenum">
              <a:rPr lang="cs-CZ" smtClean="0"/>
              <a:pPr>
                <a:defRPr/>
              </a:pPr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73564820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7135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© 2019 HERE | Confidential</a:t>
            </a:r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21CA0-2CA7-47F4-B597-FCA32B78883B}" type="slidenum">
              <a:rPr lang="cs-CZ" smtClean="0"/>
              <a:pPr>
                <a:defRPr/>
              </a:pPr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6121389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713512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© 2019 HERE | Confidential</a:t>
            </a:r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21CA0-2CA7-47F4-B597-FCA32B78883B}" type="slidenum">
              <a:rPr lang="cs-CZ" smtClean="0"/>
              <a:pPr>
                <a:defRPr/>
              </a:pPr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10882753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7135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728611"/>
            <a:ext cx="2760664" cy="11430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6150" y="508001"/>
            <a:ext cx="4626770" cy="4318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871611"/>
            <a:ext cx="2760664" cy="152400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© 2019 HERE | Confidential</a:t>
            </a:r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21CA0-2CA7-47F4-B597-FCA32B78883B}" type="slidenum">
              <a:rPr lang="cs-CZ" smtClean="0"/>
              <a:pPr>
                <a:defRPr/>
              </a:pPr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38330269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7135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333500"/>
            <a:ext cx="4623490" cy="114300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2190" y="762000"/>
            <a:ext cx="2460731" cy="3810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476500"/>
            <a:ext cx="4623490" cy="1524000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© 2019 HERE | Confidential</a:t>
            </a:r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21CA0-2CA7-47F4-B597-FCA32B78883B}" type="slidenum">
              <a:rPr lang="cs-CZ" smtClean="0"/>
              <a:pPr>
                <a:defRPr/>
              </a:pPr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898434617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7135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3944054"/>
            <a:ext cx="7598570" cy="472282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8700" y="776760"/>
            <a:ext cx="6569870" cy="2637480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4416336"/>
            <a:ext cx="7598570" cy="41142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© 2019 HERE | Confidential</a:t>
            </a:r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21CA0-2CA7-47F4-B597-FCA32B78883B}" type="slidenum">
              <a:rPr lang="cs-CZ" smtClean="0"/>
              <a:pPr>
                <a:defRPr/>
              </a:pPr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94428616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7135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508001"/>
            <a:ext cx="7598570" cy="2603499"/>
          </a:xfrm>
        </p:spPr>
        <p:txBody>
          <a:bodyPr anchor="ctr">
            <a:normAutofit/>
          </a:bodyPr>
          <a:lstStyle>
            <a:lvl1pPr algn="l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3619500"/>
            <a:ext cx="7598571" cy="120650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© 2019 HERE | Confidential</a:t>
            </a:r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21CA0-2CA7-47F4-B597-FCA32B78883B}" type="slidenum">
              <a:rPr lang="cs-CZ" smtClean="0"/>
              <a:pPr>
                <a:defRPr/>
              </a:pPr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53690477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7135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78400" y="2286000"/>
            <a:ext cx="457200" cy="48731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206" y="686114"/>
            <a:ext cx="457200" cy="48731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201" y="508001"/>
            <a:ext cx="7162799" cy="2285999"/>
          </a:xfrm>
        </p:spPr>
        <p:txBody>
          <a:bodyPr anchor="ctr">
            <a:normAutofit/>
          </a:bodyPr>
          <a:lstStyle>
            <a:lvl1pPr algn="l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23406" y="2794000"/>
            <a:ext cx="7004388" cy="3175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599" y="3619500"/>
            <a:ext cx="7614275" cy="120650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© 2019 HERE | Confidential</a:t>
            </a:r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21CA0-2CA7-47F4-B597-FCA32B78883B}" type="slidenum">
              <a:rPr lang="cs-CZ" smtClean="0"/>
              <a:pPr>
                <a:defRPr/>
              </a:pPr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77444201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7135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2" y="2757151"/>
            <a:ext cx="7598569" cy="1224000"/>
          </a:xfrm>
        </p:spPr>
        <p:txBody>
          <a:bodyPr anchor="b">
            <a:normAutofit/>
          </a:bodyPr>
          <a:lstStyle>
            <a:lvl1pPr algn="l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3981151"/>
            <a:ext cx="7598570" cy="7170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© 2019 HERE | Confidential</a:t>
            </a:r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21CA0-2CA7-47F4-B597-FCA32B78883B}" type="slidenum">
              <a:rPr lang="cs-CZ" smtClean="0"/>
              <a:pPr>
                <a:defRPr/>
              </a:pPr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43839095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7135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78400" y="2286000"/>
            <a:ext cx="457200" cy="48731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206" y="686114"/>
            <a:ext cx="457200" cy="48731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744201" y="508001"/>
            <a:ext cx="7162799" cy="2285999"/>
          </a:xfrm>
        </p:spPr>
        <p:txBody>
          <a:bodyPr anchor="ctr">
            <a:normAutofit/>
          </a:bodyPr>
          <a:lstStyle>
            <a:lvl1pPr algn="l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4350" y="3238500"/>
            <a:ext cx="7601577" cy="74083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49" y="3979333"/>
            <a:ext cx="7601577" cy="846667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© 2019 HERE | Confidential</a:t>
            </a:r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21CA0-2CA7-47F4-B597-FCA32B78883B}" type="slidenum">
              <a:rPr lang="cs-CZ" smtClean="0"/>
              <a:pPr>
                <a:defRPr/>
              </a:pPr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73873115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7135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508001"/>
            <a:ext cx="7598570" cy="22859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4351" y="2921000"/>
            <a:ext cx="7598571" cy="6985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3619500"/>
            <a:ext cx="7598571" cy="12065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© 2019 HERE | Confidential</a:t>
            </a:r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21CA0-2CA7-47F4-B597-FCA32B78883B}" type="slidenum">
              <a:rPr lang="cs-CZ" smtClean="0"/>
              <a:pPr>
                <a:defRPr/>
              </a:pPr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31730228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713512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© 2019 HERE | Confidential</a:t>
            </a:r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21CA0-2CA7-47F4-B597-FCA32B78883B}" type="slidenum">
              <a:rPr lang="cs-CZ" smtClean="0"/>
              <a:pPr>
                <a:defRPr/>
              </a:pPr>
              <a:t>‹#›</a:t>
            </a:fld>
            <a:endParaRPr lang="cs-CZ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14351" y="508000"/>
            <a:ext cx="7598569" cy="1213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674424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713512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94006" y="508000"/>
            <a:ext cx="1618914" cy="4318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508000"/>
            <a:ext cx="5874087" cy="43180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© 2019 HERE | Confidential</a:t>
            </a:r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21CA0-2CA7-47F4-B597-FCA32B78883B}" type="slidenum">
              <a:rPr lang="cs-CZ" smtClean="0"/>
              <a:pPr>
                <a:defRPr/>
              </a:pPr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457053276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Fira Sans SemiBold" panose="020B0503050000020004" pitchFamily="34" charset="0"/>
                <a:ea typeface="Fira Sans SemiBold" panose="020B0503050000020004" pitchFamily="34" charset="0"/>
              </a:defRPr>
            </a:lvl1pPr>
          </a:lstStyle>
          <a:p>
            <a:r>
              <a:rPr lang="cs-CZ" dirty="0"/>
              <a:t>Kliknutím lze upravit styl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285739" indent="-285739">
              <a:buSzPct val="100000"/>
              <a:buFont typeface="Arial" pitchFamily="34" charset="0"/>
              <a:buChar char="•"/>
              <a:defRPr sz="2250" b="0" i="0">
                <a:latin typeface="Fira Sans Condensed" panose="020B0503050000020004" pitchFamily="34" charset="0"/>
                <a:ea typeface="Roboto" panose="02000000000000000000" pitchFamily="2" charset="0"/>
              </a:defRPr>
            </a:lvl1pPr>
            <a:lvl2pPr marL="523854" indent="-222241">
              <a:buClrTx/>
              <a:buSzPct val="100000"/>
              <a:buFont typeface="Arial" pitchFamily="34" charset="0"/>
              <a:buChar char="–"/>
              <a:defRPr sz="1917" b="0" i="0">
                <a:latin typeface="Fira Sans Condensed" panose="020B0503050000020004" pitchFamily="34" charset="0"/>
                <a:ea typeface="Roboto" panose="02000000000000000000" pitchFamily="2" charset="0"/>
              </a:defRPr>
            </a:lvl2pPr>
            <a:lvl3pPr>
              <a:buClrTx/>
              <a:buSzPct val="100000"/>
              <a:defRPr sz="1917" b="0" i="0">
                <a:latin typeface="Fira Sans Condensed" panose="020B0503050000020004" pitchFamily="34" charset="0"/>
                <a:ea typeface="Roboto" panose="02000000000000000000" pitchFamily="2" charset="0"/>
              </a:defRPr>
            </a:lvl3pPr>
            <a:lvl4pPr marL="1119143" indent="-222241">
              <a:defRPr sz="1917" b="0" i="0">
                <a:latin typeface="Fira Sans Condensed" panose="020B0503050000020004" pitchFamily="34" charset="0"/>
                <a:ea typeface="Roboto" panose="02000000000000000000" pitchFamily="2" charset="0"/>
              </a:defRPr>
            </a:lvl4pPr>
            <a:lvl5pPr marL="1420756" indent="-222241">
              <a:buFont typeface="Arial" pitchFamily="34" charset="0"/>
              <a:buChar char="•"/>
              <a:defRPr sz="1917" b="0" i="0">
                <a:latin typeface="Fira Sans Condensed" panose="020B0503050000020004" pitchFamily="34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 dirty="0"/>
              <a:t>Kliknutím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číslo snímku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35A545-624B-40D2-AFF6-9618F12C24F0}" type="slidenum">
              <a:rPr lang="cs-CZ"/>
              <a:pPr>
                <a:defRPr/>
              </a:pPr>
              <a:t>‹#›</a:t>
            </a:fld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899592" y="5476875"/>
            <a:ext cx="2895600" cy="238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| PV204 In-Memory Malware Analysis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809366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screen obráz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6280FC-F2B0-3942-AA2A-7429C62B07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C21CA0-2CA7-47F4-B597-FCA32B78883B}" type="slidenum">
              <a:rPr lang="cs-CZ" smtClean="0"/>
              <a:pPr>
                <a:defRPr/>
              </a:pPr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974557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504002" y="397227"/>
            <a:ext cx="5753925" cy="1560173"/>
          </a:xfrm>
        </p:spPr>
        <p:txBody>
          <a:bodyPr anchor="ctr">
            <a:normAutofit/>
          </a:bodyPr>
          <a:lstStyle>
            <a:lvl1pPr>
              <a:defRPr sz="2667">
                <a:solidFill>
                  <a:schemeClr val="bg1"/>
                </a:solidFill>
                <a:latin typeface="+mj-lt"/>
                <a:ea typeface="Roboto" panose="020000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504000" y="2737487"/>
            <a:ext cx="5724184" cy="90010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 b="1">
                <a:solidFill>
                  <a:srgbClr val="1E4485"/>
                </a:solidFill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1pPr>
            <a:lvl2pPr marL="380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619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42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23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04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66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47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Kliknutím lze upravit styl předlohy.</a:t>
            </a:r>
          </a:p>
        </p:txBody>
      </p:sp>
      <p:sp>
        <p:nvSpPr>
          <p:cNvPr id="7" name="Zástupný symbol pro text 2"/>
          <p:cNvSpPr>
            <a:spLocks noGrp="1"/>
          </p:cNvSpPr>
          <p:nvPr>
            <p:ph type="body" idx="10" hasCustomPrompt="1"/>
          </p:nvPr>
        </p:nvSpPr>
        <p:spPr>
          <a:xfrm>
            <a:off x="504000" y="4378338"/>
            <a:ext cx="5724184" cy="720080"/>
          </a:xfrm>
        </p:spPr>
        <p:txBody>
          <a:bodyPr anchor="ctr"/>
          <a:lstStyle>
            <a:lvl1pPr marL="0" indent="0">
              <a:buNone/>
              <a:defRPr sz="1500" b="0">
                <a:solidFill>
                  <a:srgbClr val="1E4485"/>
                </a:solidFill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cs-CZ" dirty="0"/>
              <a:t>Kliknutím lze upravit styly předlohy textu.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5F03BA-7AE3-AAAA-93B6-91B9463CF5B1}"/>
              </a:ext>
            </a:extLst>
          </p:cNvPr>
          <p:cNvSpPr txBox="1"/>
          <p:nvPr userDrawn="1"/>
        </p:nvSpPr>
        <p:spPr bwMode="gray">
          <a:xfrm>
            <a:off x="2446867" y="118533"/>
            <a:ext cx="0" cy="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20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400751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504002" y="397227"/>
            <a:ext cx="5753925" cy="1560173"/>
          </a:xfrm>
        </p:spPr>
        <p:txBody>
          <a:bodyPr anchor="ctr">
            <a:normAutofit/>
          </a:bodyPr>
          <a:lstStyle>
            <a:lvl1pPr>
              <a:defRPr sz="2667">
                <a:solidFill>
                  <a:schemeClr val="bg1"/>
                </a:solidFill>
                <a:latin typeface="+mj-lt"/>
                <a:ea typeface="Roboto" panose="020000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504000" y="2737487"/>
            <a:ext cx="5724184" cy="90010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 b="1">
                <a:solidFill>
                  <a:srgbClr val="1E4485"/>
                </a:solidFill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1pPr>
            <a:lvl2pPr marL="380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619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42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23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04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66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47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Kliknutím lze upravit styl předlohy.</a:t>
            </a:r>
          </a:p>
        </p:txBody>
      </p:sp>
      <p:sp>
        <p:nvSpPr>
          <p:cNvPr id="7" name="Zástupný symbol pro text 2"/>
          <p:cNvSpPr>
            <a:spLocks noGrp="1"/>
          </p:cNvSpPr>
          <p:nvPr>
            <p:ph type="body" idx="10" hasCustomPrompt="1"/>
          </p:nvPr>
        </p:nvSpPr>
        <p:spPr>
          <a:xfrm>
            <a:off x="504000" y="4378338"/>
            <a:ext cx="5724184" cy="720080"/>
          </a:xfrm>
        </p:spPr>
        <p:txBody>
          <a:bodyPr anchor="ctr"/>
          <a:lstStyle>
            <a:lvl1pPr marL="0" indent="0">
              <a:buNone/>
              <a:defRPr sz="1500" b="0">
                <a:solidFill>
                  <a:srgbClr val="1E4485"/>
                </a:solidFill>
                <a:latin typeface="+mn-lt"/>
                <a:ea typeface="Roboto" panose="02000000000000000000" pitchFamily="2" charset="0"/>
                <a:cs typeface="Calibri" panose="020F0502020204030204" pitchFamily="34" charset="0"/>
              </a:defRPr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cs-CZ" dirty="0"/>
              <a:t>Kliknutím lze upravit styly předlohy textu.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5F03BA-7AE3-AAAA-93B6-91B9463CF5B1}"/>
              </a:ext>
            </a:extLst>
          </p:cNvPr>
          <p:cNvSpPr txBox="1"/>
          <p:nvPr userDrawn="1"/>
        </p:nvSpPr>
        <p:spPr bwMode="gray">
          <a:xfrm>
            <a:off x="2446867" y="118533"/>
            <a:ext cx="0" cy="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20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37192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508000"/>
            <a:ext cx="7598569" cy="121355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1785056"/>
            <a:ext cx="7598569" cy="30409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42245" y="4892146"/>
            <a:ext cx="1200150" cy="3148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 noProof="0"/>
              <a:t>© 2019 HERE | Confidential</a:t>
            </a:r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4892146"/>
            <a:ext cx="5870744" cy="3148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99546" y="4892146"/>
            <a:ext cx="413375" cy="3148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7EC21CA0-2CA7-47F4-B597-FCA32B78883B}" type="slidenum">
              <a:rPr lang="cs-CZ" smtClean="0"/>
              <a:pPr>
                <a:defRPr/>
              </a:pPr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620133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2" r:id="rId1"/>
    <p:sldLayoutId id="2147483943" r:id="rId2"/>
    <p:sldLayoutId id="2147483944" r:id="rId3"/>
    <p:sldLayoutId id="2147483945" r:id="rId4"/>
    <p:sldLayoutId id="2147483946" r:id="rId5"/>
    <p:sldLayoutId id="2147483947" r:id="rId6"/>
    <p:sldLayoutId id="2147483948" r:id="rId7"/>
    <p:sldLayoutId id="2147483949" r:id="rId8"/>
    <p:sldLayoutId id="2147483950" r:id="rId9"/>
    <p:sldLayoutId id="2147483951" r:id="rId10"/>
    <p:sldLayoutId id="2147483952" r:id="rId11"/>
    <p:sldLayoutId id="2147483953" r:id="rId12"/>
    <p:sldLayoutId id="2147483954" r:id="rId13"/>
    <p:sldLayoutId id="2147483955" r:id="rId14"/>
    <p:sldLayoutId id="2147483956" r:id="rId15"/>
    <p:sldLayoutId id="2147483957" r:id="rId16"/>
    <p:sldLayoutId id="2147483958" r:id="rId17"/>
    <p:sldLayoutId id="2147483959" r:id="rId18"/>
    <p:sldLayoutId id="2147483960" r:id="rId19"/>
    <p:sldLayoutId id="2147483858" r:id="rId20"/>
    <p:sldLayoutId id="2147483757" r:id="rId2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342900" rtl="0" eaLnBrk="1" latinLnBrk="0" hangingPunct="1">
        <a:spcBef>
          <a:spcPct val="0"/>
        </a:spcBef>
        <a:buNone/>
        <a:defRPr sz="2700" b="1" i="0" kern="1200" cap="all">
          <a:ln w="3175" cmpd="sng">
            <a:noFill/>
          </a:ln>
          <a:solidFill>
            <a:schemeClr val="tx1"/>
          </a:solidFill>
          <a:effectLst/>
          <a:latin typeface="Fira Sans SemiBold" panose="020B0503050000020004" pitchFamily="34" charset="0"/>
          <a:ea typeface="Fira Sans SemiBold" panose="020B0503050000020004" pitchFamily="34" charset="0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1350" b="0" i="0" kern="1200" cap="none">
          <a:solidFill>
            <a:schemeClr val="tx1"/>
          </a:solidFill>
          <a:effectLst/>
          <a:latin typeface="Fira Sans Condensed" panose="020B0503050000020004" pitchFamily="34" charset="0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1200" b="0" i="0" kern="1200" cap="none">
          <a:solidFill>
            <a:schemeClr val="tx1"/>
          </a:solidFill>
          <a:effectLst/>
          <a:latin typeface="Fira Sans Condensed" panose="020B0503050000020004" pitchFamily="34" charset="0"/>
          <a:ea typeface="+mn-ea"/>
          <a:cs typeface="+mn-cs"/>
        </a:defRPr>
      </a:lvl2pPr>
      <a:lvl3pPr marL="900113" indent="-214313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1050" b="0" i="0" kern="1200" cap="none">
          <a:solidFill>
            <a:schemeClr val="tx1"/>
          </a:solidFill>
          <a:effectLst/>
          <a:latin typeface="Fira Sans Condensed" panose="020B0503050000020004" pitchFamily="34" charset="0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b="0" i="0" kern="1200" cap="none">
          <a:solidFill>
            <a:schemeClr val="tx1"/>
          </a:solidFill>
          <a:effectLst/>
          <a:latin typeface="Fira Sans Condensed" panose="020B0503050000020004" pitchFamily="34" charset="0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b="0" i="0" kern="1200" cap="none">
          <a:solidFill>
            <a:schemeClr val="tx1"/>
          </a:solidFill>
          <a:effectLst/>
          <a:latin typeface="Fira Sans Condensed" panose="020B0503050000020004" pitchFamily="34" charset="0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1.jpeg"/><Relationship Id="rId4" Type="http://schemas.openxmlformats.org/officeDocument/2006/relationships/image" Target="../media/image10.tif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hyperlink" Target="https://github.com/qilingframework/qiling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dynamorio.org/" TargetMode="External"/><Relationship Id="rId5" Type="http://schemas.openxmlformats.org/officeDocument/2006/relationships/hyperlink" Target="https://frida.re/" TargetMode="External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alware-traffic-analysis.net/" TargetMode="External"/><Relationship Id="rId3" Type="http://schemas.openxmlformats.org/officeDocument/2006/relationships/hyperlink" Target="https://dior.ics.muni.cz/~valor/pv204/" TargetMode="External"/><Relationship Id="rId7" Type="http://schemas.openxmlformats.org/officeDocument/2006/relationships/hyperlink" Target="http://contagiodump.blogspot.com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remnux.org/" TargetMode="External"/><Relationship Id="rId5" Type="http://schemas.openxmlformats.org/officeDocument/2006/relationships/hyperlink" Target="http://beginners.re/RE_for_beginners-en.pdf" TargetMode="External"/><Relationship Id="rId4" Type="http://schemas.openxmlformats.org/officeDocument/2006/relationships/hyperlink" Target="https://github.com/volatilityfoundation/volatility/wiki/Memory-Samples" TargetMode="Externa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olatilityfoundation/volatility/wiki/Memory-Samples" TargetMode="External"/><Relationship Id="rId7" Type="http://schemas.openxmlformats.org/officeDocument/2006/relationships/hyperlink" Target="https://www.malware-traffic-analysis.net/" TargetMode="External"/><Relationship Id="rId2" Type="http://schemas.openxmlformats.org/officeDocument/2006/relationships/hyperlink" Target="https://dior.ics.muni.cz/~valor/pv204/" TargetMode="Externa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://contagiodump.blogspot.com/" TargetMode="External"/><Relationship Id="rId5" Type="http://schemas.openxmlformats.org/officeDocument/2006/relationships/hyperlink" Target="https://remnux.org/" TargetMode="External"/><Relationship Id="rId4" Type="http://schemas.openxmlformats.org/officeDocument/2006/relationships/hyperlink" Target="http://beginners.re/RE_for_beginners-en.pdf" TargetMode="Externa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Nadpis 1"/>
          <p:cNvSpPr>
            <a:spLocks noGrp="1"/>
          </p:cNvSpPr>
          <p:nvPr>
            <p:ph type="ctrTitle"/>
          </p:nvPr>
        </p:nvSpPr>
        <p:spPr>
          <a:xfrm>
            <a:off x="4264629" y="1009650"/>
            <a:ext cx="4105464" cy="29908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4800" dirty="0">
                <a:solidFill>
                  <a:schemeClr val="bg2">
                    <a:lumMod val="40000"/>
                    <a:lumOff val="60000"/>
                  </a:schemeClr>
                </a:solidFill>
                <a:ea typeface="Roboto" panose="02000000000000000000" pitchFamily="2" charset="0"/>
              </a:rPr>
              <a:t>PV204 </a:t>
            </a:r>
            <a:br>
              <a:rPr lang="en-US" altLang="en-US" sz="4800" b="1" dirty="0">
                <a:solidFill>
                  <a:schemeClr val="bg2">
                    <a:lumMod val="40000"/>
                    <a:lumOff val="60000"/>
                  </a:schemeClr>
                </a:solidFill>
                <a:ea typeface="Roboto" panose="02000000000000000000" pitchFamily="2" charset="0"/>
              </a:rPr>
            </a:br>
            <a:r>
              <a:rPr lang="en-US" sz="4800" b="1" dirty="0">
                <a:ea typeface="Roboto" panose="02000000000000000000" pitchFamily="2" charset="0"/>
              </a:rPr>
              <a:t>In-Memory Malware</a:t>
            </a:r>
            <a:r>
              <a:rPr lang="cs-CZ" sz="4800" b="1" dirty="0">
                <a:ea typeface="Roboto" panose="02000000000000000000" pitchFamily="2" charset="0"/>
              </a:rPr>
              <a:t> </a:t>
            </a:r>
            <a:r>
              <a:rPr lang="en-US" sz="4800" b="1" noProof="0" dirty="0">
                <a:ea typeface="Roboto" panose="02000000000000000000" pitchFamily="2" charset="0"/>
              </a:rPr>
              <a:t>Analysis</a:t>
            </a:r>
            <a:endParaRPr lang="cs-CZ" sz="4800" b="1" dirty="0">
              <a:ea typeface="Roboto" panose="02000000000000000000" pitchFamily="2" charset="0"/>
            </a:endParaRPr>
          </a:p>
        </p:txBody>
      </p:sp>
      <p:sp>
        <p:nvSpPr>
          <p:cNvPr id="3075" name="Podnadpis 2"/>
          <p:cNvSpPr>
            <a:spLocks noGrp="1"/>
          </p:cNvSpPr>
          <p:nvPr>
            <p:ph type="subTitle" idx="1"/>
          </p:nvPr>
        </p:nvSpPr>
        <p:spPr>
          <a:xfrm>
            <a:off x="4264628" y="4000500"/>
            <a:ext cx="4105465" cy="8254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Václav</a:t>
            </a:r>
            <a:r>
              <a:rPr lang="cs-CZ" b="1" dirty="0">
                <a:solidFill>
                  <a:schemeClr val="accent2"/>
                </a:solidFill>
              </a:rPr>
              <a:t> Lorenc</a:t>
            </a:r>
            <a:endParaRPr lang="en-US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Principal Security Engineer, Here Technologies</a:t>
            </a:r>
            <a:endParaRPr lang="en-CZ">
              <a:solidFill>
                <a:schemeClr val="accent2"/>
              </a:solidFill>
            </a:endParaRPr>
          </a:p>
          <a:p>
            <a:endParaRPr lang="en-GB" b="1" dirty="0">
              <a:solidFill>
                <a:schemeClr val="accent2"/>
              </a:solidFill>
              <a:ea typeface="Roboto" panose="0200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64C9E1-23C3-6DE2-338A-600122A0DD76}"/>
              </a:ext>
            </a:extLst>
          </p:cNvPr>
          <p:cNvSpPr txBox="1"/>
          <p:nvPr/>
        </p:nvSpPr>
        <p:spPr bwMode="gray">
          <a:xfrm>
            <a:off x="6879771" y="2296886"/>
            <a:ext cx="0" cy="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F420FE-D371-40FD-B46D-F2C31BC85698}"/>
              </a:ext>
            </a:extLst>
          </p:cNvPr>
          <p:cNvSpPr txBox="1"/>
          <p:nvPr/>
        </p:nvSpPr>
        <p:spPr bwMode="gray">
          <a:xfrm>
            <a:off x="8610600" y="2296886"/>
            <a:ext cx="0" cy="0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20000"/>
              </a:lnSpc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EC015D5-2F79-2F41-9D79-FF08802778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0846" y="1057300"/>
            <a:ext cx="8182307" cy="3384376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E289B-67E6-F443-AA60-48C3F93EEB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B35A545-624B-40D2-AFF6-9618F12C24F0}" type="slidenum">
              <a:rPr lang="cs-CZ" smtClean="0"/>
              <a:pPr>
                <a:spcAft>
                  <a:spcPts val="600"/>
                </a:spcAft>
                <a:defRPr/>
              </a:pPr>
              <a:t>2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80E92-454B-8B48-9720-90E7321FE4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| PV204 In-Memory Malware Analysis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9498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49" y="958396"/>
            <a:ext cx="2744542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457200"/>
            <a:r>
              <a:rPr lang="en-US" sz="3600" dirty="0">
                <a:ea typeface="+mj-ea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493" y="958396"/>
            <a:ext cx="4888157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500" dirty="0">
                <a:ea typeface="+mn-ea"/>
              </a:rPr>
              <a:t>Motivation!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 dirty="0">
                <a:ea typeface="+mn-ea"/>
              </a:rPr>
              <a:t>No x86 assembly required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 dirty="0">
                <a:ea typeface="+mn-ea"/>
              </a:rPr>
              <a:t>No malware (de)obfuscation magic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500" dirty="0">
                <a:ea typeface="+mn-ea"/>
              </a:rPr>
              <a:t>How does an OS look “inside”?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 dirty="0">
                <a:ea typeface="+mn-ea"/>
              </a:rPr>
              <a:t>Processes and other data structures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 dirty="0">
                <a:ea typeface="+mn-ea"/>
              </a:rPr>
              <a:t>How the memory is organized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500" dirty="0">
                <a:ea typeface="+mn-ea"/>
              </a:rPr>
              <a:t>Common tools used for analysis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500" dirty="0">
                <a:ea typeface="+mn-ea"/>
              </a:rPr>
              <a:t>Searching for system “oddities”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 dirty="0">
                <a:ea typeface="+mn-ea"/>
              </a:rPr>
              <a:t>What are the important system indicators?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500" dirty="0">
                <a:ea typeface="+mn-ea"/>
              </a:rPr>
              <a:t>Real samples discussed and analyzed! (Labs)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16275" y="4892145"/>
            <a:ext cx="413375" cy="3148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B35A545-624B-40D2-AFF6-9618F12C24F0}" type="slidenum"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  <a:defRPr/>
              </a:pPr>
              <a:t>3</a:t>
            </a:fld>
            <a:endParaRPr lang="en-US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892145"/>
            <a:ext cx="5551715" cy="314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| PV204 In-Memory Malware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49" y="958396"/>
            <a:ext cx="2744542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457200"/>
            <a:r>
              <a:rPr lang="en-US" sz="3600" dirty="0">
                <a:ea typeface="+mj-ea"/>
              </a:rPr>
              <a:t>Why memory analysis?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493" y="958396"/>
            <a:ext cx="4888157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400" b="1" dirty="0">
                <a:ea typeface="+mn-ea"/>
              </a:rPr>
              <a:t>It’s fun!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400" dirty="0">
                <a:ea typeface="+mn-ea"/>
              </a:rPr>
              <a:t>Acquiring evidence for legal investigations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400" dirty="0">
                <a:ea typeface="+mn-ea"/>
              </a:rPr>
              <a:t>It used to be different in the past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400" dirty="0">
                <a:ea typeface="+mn-ea"/>
              </a:rPr>
              <a:t>Technical simplification of reverse engineering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400" dirty="0">
                <a:ea typeface="+mn-ea"/>
              </a:rPr>
              <a:t>No binary obfuscation present – the code has to run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400" dirty="0">
                <a:ea typeface="+mn-ea"/>
              </a:rPr>
              <a:t>Incident response activities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400" dirty="0">
                <a:ea typeface="+mn-ea"/>
              </a:rPr>
              <a:t>Easy way how to learn more about the attackers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400" b="1" dirty="0">
                <a:ea typeface="+mn-ea"/>
              </a:rPr>
              <a:t>Malicious binary may only be present in memory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400" b="1" dirty="0">
                <a:ea typeface="+mn-ea"/>
              </a:rPr>
              <a:t>Fast</a:t>
            </a:r>
            <a:r>
              <a:rPr lang="en-US" sz="1400" dirty="0">
                <a:ea typeface="+mn-ea"/>
              </a:rPr>
              <a:t>: RAM is (usually) smaller than full hard-drive images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16275" y="4892145"/>
            <a:ext cx="413375" cy="3148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B35A545-624B-40D2-AFF6-9618F12C24F0}" type="slidenum"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  <a:defRPr/>
              </a:pPr>
              <a:t>4</a:t>
            </a:fld>
            <a:endParaRPr lang="en-US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892145"/>
            <a:ext cx="5551715" cy="314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| PV204 In-Memory Malware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1BDD86F-9FBB-8748-8C69-6B310E271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76" y="1207113"/>
            <a:ext cx="7939881" cy="32950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EABB0-4DE1-AF4D-8A80-0808ABDAA7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699545" y="5356652"/>
            <a:ext cx="413375" cy="31485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B35A545-624B-40D2-AFF6-9618F12C24F0}" type="slidenum">
              <a:rPr lang="en-US" sz="1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  <a:defRPr/>
              </a:pPr>
              <a:t>5</a:t>
            </a:fld>
            <a:endParaRPr lang="en-US" sz="1000" b="0" i="0" kern="120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6B938-F6BB-2B42-80A7-7D26060584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4350" y="5356652"/>
            <a:ext cx="5870744" cy="314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i="0" kern="1200">
                <a:effectLst/>
                <a:latin typeface="+mn-lt"/>
                <a:ea typeface="+mn-ea"/>
                <a:cs typeface="+mn-cs"/>
              </a:rPr>
              <a:t>| PV204 In-Memory Malware Analysis</a:t>
            </a:r>
          </a:p>
        </p:txBody>
      </p:sp>
    </p:spTree>
    <p:extLst>
      <p:ext uri="{BB962C8B-B14F-4D97-AF65-F5344CB8AC3E}">
        <p14:creationId xmlns:p14="http://schemas.microsoft.com/office/powerpoint/2010/main" val="3178589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5A545-624B-40D2-AFF6-9618F12C24F0}" type="slidenum">
              <a:rPr lang="cs-CZ" smtClean="0"/>
              <a:pPr>
                <a:defRPr/>
              </a:pPr>
              <a:t>6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| PV204 In-Memory Malware Analysis</a:t>
            </a:r>
            <a:endParaRPr lang="cs-CZ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60" y="594940"/>
            <a:ext cx="4824400" cy="47228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09084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49" y="958396"/>
            <a:ext cx="2744542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457200"/>
            <a:r>
              <a:rPr lang="en-US" sz="3300">
                <a:ea typeface="+mj-ea"/>
              </a:rPr>
              <a:t>Challenges in Reverse Engineering (RE)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493" y="958396"/>
            <a:ext cx="4888157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500">
                <a:ea typeface="+mn-ea"/>
              </a:rPr>
              <a:t>Assembly language (for multiple platforms)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>
                <a:ea typeface="+mn-ea"/>
              </a:rPr>
              <a:t>Along with undocumented instructions (or behavior)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500">
                <a:ea typeface="+mn-ea"/>
              </a:rPr>
              <a:t>Anti-debugging tricks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>
                <a:ea typeface="+mn-ea"/>
              </a:rPr>
              <a:t>Exceptions, interrupts, PE manipulations, time checking, ...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500">
                <a:ea typeface="+mn-ea"/>
              </a:rPr>
              <a:t>Anti-VM tricks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>
                <a:ea typeface="+mn-ea"/>
              </a:rPr>
              <a:t>Uncommon behavior of known instructions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>
                <a:ea typeface="+mn-ea"/>
              </a:rPr>
              <a:t>Registry detections, HW detections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500">
                <a:ea typeface="+mn-ea"/>
              </a:rPr>
              <a:t>Code obfuscation/packing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>
                <a:ea typeface="+mn-ea"/>
              </a:rPr>
              <a:t>The most challenging to overcome, mostly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16275" y="4892145"/>
            <a:ext cx="413375" cy="3148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B35A545-624B-40D2-AFF6-9618F12C24F0}" type="slidenum"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  <a:defRPr/>
              </a:pPr>
              <a:t>7</a:t>
            </a:fld>
            <a:endParaRPr lang="en-US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892145"/>
            <a:ext cx="5551715" cy="314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| PV204 In-Memory Malware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35A545-624B-40D2-AFF6-9618F12C24F0}" type="slidenum">
              <a:rPr lang="cs-CZ" smtClean="0"/>
              <a:pPr/>
              <a:t>8</a:t>
            </a:fld>
            <a:endParaRPr lang="cs-CZ" dirty="0"/>
          </a:p>
        </p:txBody>
      </p:sp>
      <p:pic>
        <p:nvPicPr>
          <p:cNvPr id="1026" name="Picture 2" descr="C:\Users\E525127\Documents\School\Prednasky\English PE Walkthrough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44297"/>
            <a:ext cx="7920880" cy="5621515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6516216" y="5010806"/>
            <a:ext cx="2520280" cy="400110"/>
          </a:xfrm>
          <a:prstGeom prst="rect">
            <a:avLst/>
          </a:prstGeom>
          <a:solidFill>
            <a:schemeClr val="bg1">
              <a:alpha val="66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+mn-lt"/>
              </a:rPr>
              <a:t>PE File Format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ownload Ninja, Samurai, Silhouette. Royalty-Free Vector ...">
            <a:extLst>
              <a:ext uri="{FF2B5EF4-FFF2-40B4-BE49-F238E27FC236}">
                <a16:creationId xmlns:a16="http://schemas.microsoft.com/office/drawing/2014/main" id="{984034AA-5A72-4538-8219-47AE6C995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89997" l="10791" r="9008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80" r="3" b="3"/>
          <a:stretch/>
        </p:blipFill>
        <p:spPr bwMode="auto">
          <a:xfrm>
            <a:off x="20" y="812"/>
            <a:ext cx="5664688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1DA5AE0-57C3-884E-A525-DE8F0F5E4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8851" y="1636889"/>
            <a:ext cx="2441242" cy="201788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r" defTabSz="457200"/>
            <a:r>
              <a:rPr lang="en-US" sz="4400"/>
              <a:t>Memory analysis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76D01D-CF28-294E-9172-EB90AC3A5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8851" y="3654776"/>
            <a:ext cx="2441242" cy="11712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defTabSz="457200">
              <a:spcAft>
                <a:spcPts val="1000"/>
              </a:spcAft>
            </a:pPr>
            <a:r>
              <a:rPr lang="en-US" sz="1800"/>
              <a:t>‘cause reverse engineering ninjas are busy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12057" y="4892145"/>
            <a:ext cx="2955171" cy="314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sz="1000" b="0" i="0" kern="1200">
                <a:solidFill>
                  <a:srgbClr val="FFFFFF"/>
                </a:solidFill>
                <a:effectLst/>
                <a:latin typeface="+mn-lt"/>
                <a:ea typeface="+mn-ea"/>
                <a:cs typeface="+mn-cs"/>
              </a:rPr>
              <a:t>| PV204 In-Memory Malware Analysis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956718" y="4892145"/>
            <a:ext cx="413375" cy="3148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13F72F7E-A92E-4996-87A8-9530E00B3D3A}" type="slidenum">
              <a:rPr lang="en-US" sz="1000"/>
              <a:pPr defTabSz="914400">
                <a:spcAft>
                  <a:spcPts val="600"/>
                </a:spcAft>
                <a:defRPr/>
              </a:pPr>
              <a:t>9</a:t>
            </a:fld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14349" y="958396"/>
            <a:ext cx="2744542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457200"/>
            <a:r>
              <a:rPr lang="en-US" sz="2800" dirty="0">
                <a:ea typeface="+mj-ea"/>
              </a:rPr>
              <a:t>x86/x64 Memory organization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741493" y="958396"/>
            <a:ext cx="4888157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700" dirty="0">
                <a:ea typeface="+mn-ea"/>
              </a:rPr>
              <a:t>Physical memory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700" dirty="0">
                <a:ea typeface="+mn-ea"/>
              </a:rPr>
              <a:t>RAM; what we really have installed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700" dirty="0">
                <a:ea typeface="+mn-ea"/>
              </a:rPr>
              <a:t>Virtual memory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700" dirty="0">
                <a:ea typeface="+mn-ea"/>
              </a:rPr>
              <a:t>Separation of logical process memory from the physical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700" dirty="0">
                <a:ea typeface="+mn-ea"/>
              </a:rPr>
              <a:t>Logical address space &gt; physical (e.g., swap)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700" dirty="0">
                <a:ea typeface="+mn-ea"/>
              </a:rPr>
              <a:t>Address space shared by several processes, yet separated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700" dirty="0">
                <a:ea typeface="+mn-ea"/>
              </a:rPr>
              <a:t>Paging vs. Segmentation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700" dirty="0">
                <a:ea typeface="+mn-ea"/>
              </a:rPr>
              <a:t>Possible memory organization approaches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8216275" y="4892145"/>
            <a:ext cx="413375" cy="3148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3F72F7E-A92E-4996-87A8-9530E00B3D3A}" type="slidenum"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  <a:defRPr/>
              </a:pPr>
              <a:t>10</a:t>
            </a:fld>
            <a:endParaRPr lang="en-US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14350" y="4892145"/>
            <a:ext cx="5551715" cy="314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| PV204 In-Memory Malware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0556516"/>
              </p:ext>
            </p:extLst>
          </p:nvPr>
        </p:nvGraphicFramePr>
        <p:xfrm>
          <a:off x="971600" y="121196"/>
          <a:ext cx="7404193" cy="13985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5A545-624B-40D2-AFF6-9618F12C24F0}" type="slidenum">
              <a:rPr lang="cs-CZ" smtClean="0"/>
              <a:pPr>
                <a:defRPr/>
              </a:pPr>
              <a:t>11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| PV204 In-Memory Malware Analysis</a:t>
            </a:r>
            <a:endParaRPr lang="cs-CZ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155401" y="1289100"/>
            <a:ext cx="6991036" cy="4204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5" name="Picture 2064">
            <a:extLst>
              <a:ext uri="{FF2B5EF4-FFF2-40B4-BE49-F238E27FC236}">
                <a16:creationId xmlns:a16="http://schemas.microsoft.com/office/drawing/2014/main" id="{5C819037-A607-4A7B-ADF1-B04516199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5713511"/>
          </a:xfrm>
          <a:prstGeom prst="rect">
            <a:avLst/>
          </a:prstGeom>
        </p:spPr>
      </p:pic>
      <p:sp>
        <p:nvSpPr>
          <p:cNvPr id="2066" name="Rectangle 2065">
            <a:extLst>
              <a:ext uri="{FF2B5EF4-FFF2-40B4-BE49-F238E27FC236}">
                <a16:creationId xmlns:a16="http://schemas.microsoft.com/office/drawing/2014/main" id="{F8C668FA-2417-47B5-B454-2D55FC17F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715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67" name="Picture 2066">
            <a:extLst>
              <a:ext uri="{FF2B5EF4-FFF2-40B4-BE49-F238E27FC236}">
                <a16:creationId xmlns:a16="http://schemas.microsoft.com/office/drawing/2014/main" id="{97FEBA57-8992-46BB-BCF0-5A83FE8E0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5713511"/>
          </a:xfrm>
          <a:prstGeom prst="rect">
            <a:avLst/>
          </a:prstGeom>
        </p:spPr>
      </p:pic>
      <p:sp>
        <p:nvSpPr>
          <p:cNvPr id="2068" name="Rectangle 2067">
            <a:extLst>
              <a:ext uri="{FF2B5EF4-FFF2-40B4-BE49-F238E27FC236}">
                <a16:creationId xmlns:a16="http://schemas.microsoft.com/office/drawing/2014/main" id="{2B4CDDF6-55C3-415A-8D8B-7E03C3D61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00050"/>
            <a:ext cx="8428482" cy="491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CB7F77-4E99-3F4B-91AA-726168FD4E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77" y="1159629"/>
            <a:ext cx="3852293" cy="3390017"/>
          </a:xfrm>
          <a:prstGeom prst="rect">
            <a:avLst/>
          </a:prstGeom>
        </p:spPr>
      </p:pic>
      <p:pic>
        <p:nvPicPr>
          <p:cNvPr id="2050" name="Picture 2" descr="Operating Systems: Virtual Memory">
            <a:extLst>
              <a:ext uri="{FF2B5EF4-FFF2-40B4-BE49-F238E27FC236}">
                <a16:creationId xmlns:a16="http://schemas.microsoft.com/office/drawing/2014/main" id="{AE4457B0-DCB3-6238-1184-CECC4BBD8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95030" y="994308"/>
            <a:ext cx="3847531" cy="373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3128D-D6D1-7549-ADF6-5726890E82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4350" y="5356652"/>
            <a:ext cx="5870744" cy="314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i="0" kern="1200">
                <a:solidFill>
                  <a:srgbClr val="FFFFFF"/>
                </a:solidFill>
                <a:effectLst/>
                <a:latin typeface="+mn-lt"/>
                <a:ea typeface="+mn-ea"/>
                <a:cs typeface="+mn-cs"/>
              </a:rPr>
              <a:t>| PV204 In-Memory Malware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6D1F8-8329-314D-8104-3CCAFF6FD9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699545" y="5356652"/>
            <a:ext cx="413375" cy="31485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B35A545-624B-40D2-AFF6-9618F12C24F0}" type="slidenum">
              <a:rPr lang="en-US" sz="1000" b="0" i="0" kern="1200" smtClean="0">
                <a:solidFill>
                  <a:srgbClr val="FFFFFF"/>
                </a:solidFill>
                <a:effectLst/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  <a:defRPr/>
              </a:pPr>
              <a:t>12</a:t>
            </a:fld>
            <a:endParaRPr lang="en-US" sz="1000" b="0" i="0" kern="1200">
              <a:solidFill>
                <a:srgbClr val="FFFFFF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20152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E529E56-ED37-4E8C-28D9-F02400476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Logical vs. Physical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A6666-EE34-191E-3662-3FE7DC53D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PV204 In-Memory Malware Analysis</a:t>
            </a:r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95C76-6AC4-E3FB-5340-CF137CA10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35A545-624B-40D2-AFF6-9618F12C24F0}" type="slidenum">
              <a:rPr lang="cs-CZ" smtClean="0"/>
              <a:pPr>
                <a:defRPr/>
              </a:pPr>
              <a:t>13</a:t>
            </a:fld>
            <a:endParaRPr lang="cs-CZ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E135251-9EE5-C60D-67D4-0ED50DB2FE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04850" y="1825625"/>
            <a:ext cx="3365500" cy="2959100"/>
          </a:xfrm>
          <a:prstGeom prst="rect">
            <a:avLst/>
          </a:prstGeom>
        </p:spPr>
      </p:pic>
      <p:pic>
        <p:nvPicPr>
          <p:cNvPr id="10" name="Picture 2" descr="Operating Systems: Virtual Memory">
            <a:extLst>
              <a:ext uri="{FF2B5EF4-FFF2-40B4-BE49-F238E27FC236}">
                <a16:creationId xmlns:a16="http://schemas.microsoft.com/office/drawing/2014/main" id="{CD04FF4D-CB14-83F4-6E25-D1C0544A0DC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74240" y="1784350"/>
            <a:ext cx="3132445" cy="304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1523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5A545-624B-40D2-AFF6-9618F12C24F0}" type="slidenum">
              <a:rPr lang="cs-CZ" smtClean="0"/>
              <a:pPr>
                <a:defRPr/>
              </a:pPr>
              <a:t>14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| PV204 In-Memory Malware Analysis</a:t>
            </a:r>
            <a:endParaRPr lang="cs-CZ" dirty="0"/>
          </a:p>
        </p:txBody>
      </p:sp>
      <p:pic>
        <p:nvPicPr>
          <p:cNvPr id="1026" name="Picture 2" descr="Windows 32 bit address spac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938" y="744277"/>
            <a:ext cx="4665431" cy="4417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07504" y="4919274"/>
            <a:ext cx="2520280" cy="400110"/>
          </a:xfrm>
          <a:prstGeom prst="rect">
            <a:avLst/>
          </a:prstGeom>
          <a:solidFill>
            <a:schemeClr val="tx2">
              <a:lumMod val="20000"/>
              <a:lumOff val="80000"/>
              <a:alpha val="66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+mn-lt"/>
              </a:rPr>
              <a:t>Win32 Address Space</a:t>
            </a:r>
          </a:p>
        </p:txBody>
      </p:sp>
    </p:spTree>
    <p:extLst>
      <p:ext uri="{BB962C8B-B14F-4D97-AF65-F5344CB8AC3E}">
        <p14:creationId xmlns:p14="http://schemas.microsoft.com/office/powerpoint/2010/main" val="2472917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5A545-624B-40D2-AFF6-9618F12C24F0}" type="slidenum">
              <a:rPr lang="cs-CZ" smtClean="0"/>
              <a:pPr>
                <a:defRPr/>
              </a:pPr>
              <a:t>15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| PV204 In-Memory Malware Analysis</a:t>
            </a:r>
            <a:endParaRPr lang="cs-CZ" dirty="0"/>
          </a:p>
        </p:txBody>
      </p:sp>
      <p:pic>
        <p:nvPicPr>
          <p:cNvPr id="2050" name="Picture 2" descr="Linux 32 bit address spac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707" y="697260"/>
            <a:ext cx="6264568" cy="4484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07504" y="4929014"/>
            <a:ext cx="2520280" cy="400110"/>
          </a:xfrm>
          <a:prstGeom prst="rect">
            <a:avLst/>
          </a:prstGeom>
          <a:solidFill>
            <a:schemeClr val="tx2">
              <a:lumMod val="20000"/>
              <a:lumOff val="80000"/>
              <a:alpha val="66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+mn-lt"/>
              </a:rPr>
              <a:t>Linux Address Space</a:t>
            </a:r>
          </a:p>
        </p:txBody>
      </p:sp>
    </p:spTree>
    <p:extLst>
      <p:ext uri="{BB962C8B-B14F-4D97-AF65-F5344CB8AC3E}">
        <p14:creationId xmlns:p14="http://schemas.microsoft.com/office/powerpoint/2010/main" val="1293743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54A88-E7ED-6E4E-986F-CDB8878D24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5A545-624B-40D2-AFF6-9618F12C24F0}" type="slidenum">
              <a:rPr lang="cs-CZ" smtClean="0"/>
              <a:pPr>
                <a:defRPr/>
              </a:pPr>
              <a:t>16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7519B-25A2-8246-87A3-FAEF0A9358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| PV204 In-Memory Malware Analysis</a:t>
            </a:r>
            <a:endParaRPr lang="cs-CZ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99B00B-BA6C-7940-8B26-38981534D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727" y="820940"/>
            <a:ext cx="4920547" cy="407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555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8C668FA-2417-47B5-B454-2D55FC17F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715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7FEBA57-8992-46BB-BCF0-5A83FE8E0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571351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B4CDDF6-55C3-415A-8D8B-7E03C3D61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00050"/>
            <a:ext cx="8428482" cy="4914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5642E5-FB0C-94D3-E086-DCBFC29CF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76" y="839894"/>
            <a:ext cx="7939881" cy="4029488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6199F-981C-0ECB-A517-16A6D0346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350" y="5356652"/>
            <a:ext cx="5870744" cy="31485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| PV204 In-Memory Malware Analysis</a:t>
            </a:r>
            <a:endParaRPr lang="cs-CZ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39A19-6C83-6D11-25A6-4A60A42E0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99545" y="5356652"/>
            <a:ext cx="413375" cy="31485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0B35A545-624B-40D2-AFF6-9618F12C24F0}" type="slidenum">
              <a:rPr lang="cs-CZ">
                <a:solidFill>
                  <a:schemeClr val="bg1"/>
                </a:solidFill>
              </a:rPr>
              <a:pPr>
                <a:spcAft>
                  <a:spcPts val="600"/>
                </a:spcAft>
                <a:defRPr/>
              </a:pPr>
              <a:t>17</a:t>
            </a:fld>
            <a:endParaRPr lang="cs-CZ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4694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87DB1-B152-3C62-B1E9-576B397F9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C20923-17FF-4CC8-10F3-6B8158D65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49" y="958396"/>
            <a:ext cx="2744542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457200"/>
            <a:r>
              <a:rPr lang="en-US" sz="2800" dirty="0">
                <a:ea typeface="+mj-ea"/>
              </a:rPr>
              <a:t>ARM64 Memory organization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FC3883-2DE5-3DEE-1E9D-8649893C2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1493" y="958396"/>
            <a:ext cx="4888157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700" dirty="0">
                <a:ea typeface="+mn-ea"/>
              </a:rPr>
              <a:t>Physical memory (RAM)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700" dirty="0">
                <a:ea typeface="+mn-ea"/>
              </a:rPr>
              <a:t>Paging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700" dirty="0">
                <a:ea typeface="+mn-ea"/>
              </a:rPr>
              <a:t>4-level page tables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700" b="1" dirty="0">
                <a:ea typeface="+mn-ea"/>
              </a:rPr>
              <a:t>No </a:t>
            </a:r>
            <a:r>
              <a:rPr lang="en-US" sz="1700" b="1" dirty="0">
                <a:solidFill>
                  <a:schemeClr val="bg2">
                    <a:lumMod val="40000"/>
                    <a:lumOff val="60000"/>
                  </a:schemeClr>
                </a:solidFill>
                <a:ea typeface="+mn-ea"/>
              </a:rPr>
              <a:t>segmentation</a:t>
            </a:r>
            <a:r>
              <a:rPr lang="en-US" sz="1700" b="1" dirty="0">
                <a:ea typeface="+mn-ea"/>
              </a:rPr>
              <a:t> available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600" dirty="0">
                <a:ea typeface="+mn-ea"/>
              </a:rPr>
              <a:t>Probably the major difference from x86_64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600" dirty="0">
                <a:ea typeface="+mn-ea"/>
              </a:rPr>
              <a:t>Not needed by modern applications anyway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E27DFB-B75B-CBCE-890F-931F85C951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216275" y="4892145"/>
            <a:ext cx="413375" cy="3148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3F72F7E-A92E-4996-87A8-9530E00B3D3A}" type="slidenum"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  <a:defRPr/>
              </a:pPr>
              <a:t>18</a:t>
            </a:fld>
            <a:endParaRPr lang="en-US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BF93A3-382B-7946-13A9-A82AC03836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4350" y="4892145"/>
            <a:ext cx="5551715" cy="314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| PV204 In-Memory Malware Analysis</a:t>
            </a:r>
          </a:p>
        </p:txBody>
      </p:sp>
    </p:spTree>
    <p:extLst>
      <p:ext uri="{BB962C8B-B14F-4D97-AF65-F5344CB8AC3E}">
        <p14:creationId xmlns:p14="http://schemas.microsoft.com/office/powerpoint/2010/main" val="1565383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4EBF4-13AC-D128-5E16-FC98C67D5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413F1C-6817-634D-0811-A8404DB21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49" y="958396"/>
            <a:ext cx="2744542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457200"/>
            <a:r>
              <a:rPr lang="en-US" sz="2800" dirty="0">
                <a:ea typeface="+mj-ea"/>
              </a:rPr>
              <a:t>ARM64 Memory organization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6DA296-FEB7-0C0B-5321-C32ADD9A37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216275" y="4892145"/>
            <a:ext cx="413375" cy="3148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3F72F7E-A92E-4996-87A8-9530E00B3D3A}" type="slidenum"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  <a:defRPr/>
              </a:pPr>
              <a:t>19</a:t>
            </a:fld>
            <a:endParaRPr lang="en-US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B5A1E7-303A-24F3-D680-E90206E53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4350" y="4892145"/>
            <a:ext cx="5551715" cy="314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| PV204 In-Memory Malware Analysis</a:t>
            </a:r>
          </a:p>
        </p:txBody>
      </p:sp>
      <p:pic>
        <p:nvPicPr>
          <p:cNvPr id="6146" name="Picture 2" descr="Introduction to the ARMv8 Virtualization System | openEuler">
            <a:extLst>
              <a:ext uri="{FF2B5EF4-FFF2-40B4-BE49-F238E27FC236}">
                <a16:creationId xmlns:a16="http://schemas.microsoft.com/office/drawing/2014/main" id="{321374E0-2C59-474B-8A53-A7DE5FDC63D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1738" y="1126802"/>
            <a:ext cx="4887912" cy="3461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490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BECFFDC-94DB-4DA3-94FE-22FEDDA8F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57135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D04841-9B71-5977-CBAC-E07474D964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4" r="460" b="3"/>
          <a:stretch/>
        </p:blipFill>
        <p:spPr>
          <a:xfrm>
            <a:off x="20" y="812"/>
            <a:ext cx="5664688" cy="5715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8BF0107-3463-486E-B9EE-5A5727B4F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5713511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EF70976-5E1C-DB9D-23F2-0CCDA16A6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8851" y="1636889"/>
            <a:ext cx="2441242" cy="20178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457200">
              <a:lnSpc>
                <a:spcPct val="90000"/>
              </a:lnSpc>
            </a:pPr>
            <a:r>
              <a:rPr lang="en-US" sz="3400" b="1" dirty="0"/>
              <a:t>Operating System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DEB944-39CC-FAC1-1E9C-76E654119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8851" y="3654776"/>
            <a:ext cx="2441242" cy="11712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defTabSz="457200">
              <a:spcAft>
                <a:spcPts val="1000"/>
              </a:spcAft>
            </a:pPr>
            <a:r>
              <a:rPr lang="en-US" sz="18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Data structures</a:t>
            </a:r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F1809-8496-A7FA-A208-0D99088D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057" y="4892145"/>
            <a:ext cx="2955171" cy="3148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sz="1000" b="0" i="0" kern="1200">
                <a:solidFill>
                  <a:srgbClr val="FFFFFF"/>
                </a:solidFill>
                <a:effectLst/>
                <a:latin typeface="+mn-lt"/>
                <a:ea typeface="+mn-ea"/>
                <a:cs typeface="+mn-cs"/>
              </a:rPr>
              <a:t>| PV204 In-Memory Malware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C610A-E70C-8351-0BC4-C164070CB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56718" y="4892145"/>
            <a:ext cx="413375" cy="3148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0B35A545-624B-40D2-AFF6-9618F12C24F0}" type="slidenum">
              <a:rPr lang="en-US" sz="1000" smtClean="0"/>
              <a:pPr defTabSz="914400">
                <a:spcAft>
                  <a:spcPts val="600"/>
                </a:spcAft>
                <a:defRPr/>
              </a:pPr>
              <a:t>20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9088703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49" y="958396"/>
            <a:ext cx="2744542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457200"/>
            <a:r>
              <a:rPr lang="en-US" sz="3200" dirty="0">
                <a:ea typeface="+mj-ea"/>
              </a:rPr>
              <a:t>Operating System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493" y="958396"/>
            <a:ext cx="4888157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500">
                <a:ea typeface="+mn-ea"/>
              </a:rPr>
              <a:t>How the OS knows about processes, files, …?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>
                <a:ea typeface="+mn-ea"/>
              </a:rPr>
              <a:t>A lot of ‘metadata’ for important data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>
                <a:ea typeface="+mn-ea"/>
              </a:rPr>
              <a:t>Based on C/C++ data structures (see MSDN documentation)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500">
                <a:ea typeface="+mn-ea"/>
              </a:rPr>
              <a:t>(Double-)linked list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>
                <a:ea typeface="+mn-ea"/>
              </a:rPr>
              <a:t>Another common data structure (not only in OS)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>
                <a:ea typeface="+mn-ea"/>
              </a:rPr>
              <a:t>Method for implementing lists in computer memory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500">
                <a:ea typeface="+mn-ea"/>
              </a:rPr>
              <a:t>Direct Kernel Object Manipulation (DKOM)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>
                <a:ea typeface="+mn-ea"/>
              </a:rPr>
              <a:t>Used for manipulating the structures to hide malicious stuff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endParaRPr lang="en-US" sz="1500">
              <a:ea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16275" y="4892145"/>
            <a:ext cx="413375" cy="3148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B35A545-624B-40D2-AFF6-9618F12C24F0}" type="slidenum"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  <a:defRPr/>
              </a:pPr>
              <a:t>21</a:t>
            </a:fld>
            <a:endParaRPr lang="en-US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892145"/>
            <a:ext cx="5551715" cy="314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| PV204 In-Memory Malware Analysis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4181635"/>
            <a:ext cx="7595394" cy="7761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457200"/>
            <a:r>
              <a:rPr lang="en-US" sz="3200" dirty="0">
                <a:ea typeface="+mj-ea"/>
              </a:rPr>
              <a:t>(Double) Linked Lists</a:t>
            </a:r>
          </a:p>
        </p:txBody>
      </p:sp>
      <p:pic>
        <p:nvPicPr>
          <p:cNvPr id="3076" name="Picture 4" descr="Linked List data structure | SESV Tutorial">
            <a:extLst>
              <a:ext uri="{FF2B5EF4-FFF2-40B4-BE49-F238E27FC236}">
                <a16:creationId xmlns:a16="http://schemas.microsoft.com/office/drawing/2014/main" id="{E80EC2B5-1215-F78A-B042-ABF957A99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51" y="1"/>
            <a:ext cx="9155451" cy="4169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0992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49" y="958396"/>
            <a:ext cx="2744542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457200"/>
            <a:r>
              <a:rPr lang="en-US" sz="3100" b="1" dirty="0">
                <a:solidFill>
                  <a:schemeClr val="accent2"/>
                </a:solidFill>
                <a:ea typeface="+mj-ea"/>
              </a:rPr>
              <a:t>DKOM</a:t>
            </a:r>
            <a:br>
              <a:rPr lang="en-US" sz="3100" dirty="0">
                <a:ea typeface="+mj-ea"/>
              </a:rPr>
            </a:br>
            <a:r>
              <a:rPr lang="en-US" sz="2800" dirty="0">
                <a:ea typeface="+mj-ea"/>
              </a:rPr>
              <a:t>Direct Kernel Object Manipulation</a:t>
            </a:r>
            <a:endParaRPr lang="en-US" sz="3100" dirty="0">
              <a:ea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493" y="958396"/>
            <a:ext cx="4888157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400">
                <a:ea typeface="+mn-ea"/>
              </a:rPr>
              <a:t>Dozens of various (double-)linked lists in Windows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400">
                <a:ea typeface="+mn-ea"/>
              </a:rPr>
              <a:t>Maintained by kernel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400">
                <a:ea typeface="+mn-ea"/>
              </a:rPr>
              <a:t>Processes, threads, opened files, memory allocations, …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400">
                <a:ea typeface="+mn-ea"/>
              </a:rPr>
              <a:t>DKOM is used by rootkits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400">
                <a:ea typeface="+mn-ea"/>
              </a:rPr>
              <a:t>Hiding from the sight of the user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400">
                <a:ea typeface="+mn-ea"/>
              </a:rPr>
              <a:t>Rootkit paradox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400">
                <a:ea typeface="+mn-ea"/>
              </a:rPr>
              <a:t>Rootkits need to run on the system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400">
                <a:ea typeface="+mn-ea"/>
              </a:rPr>
              <a:t>… and need to remain hidden at the same time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400">
                <a:ea typeface="+mn-ea"/>
              </a:rPr>
              <a:t>Memory analysis can help to discover DKOM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400">
                <a:ea typeface="+mn-ea"/>
              </a:rPr>
              <a:t>Anti-analysis techniques are known as well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16275" y="4892145"/>
            <a:ext cx="413375" cy="3148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B35A545-624B-40D2-AFF6-9618F12C24F0}" type="slidenum"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  <a:defRPr/>
              </a:pPr>
              <a:t>23</a:t>
            </a:fld>
            <a:endParaRPr lang="en-US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892145"/>
            <a:ext cx="5551715" cy="314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| PV204 In-Memory Malware Analysis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Interesting OS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Suspicious Memory Pages</a:t>
            </a:r>
          </a:p>
          <a:p>
            <a:r>
              <a:rPr lang="en-US" sz="1800" dirty="0"/>
              <a:t>Processes</a:t>
            </a:r>
          </a:p>
          <a:p>
            <a:r>
              <a:rPr lang="en-US" sz="1800" dirty="0"/>
              <a:t>Threads</a:t>
            </a:r>
          </a:p>
          <a:p>
            <a:r>
              <a:rPr lang="en-US" sz="1800" dirty="0"/>
              <a:t>Sockets (Connections)</a:t>
            </a:r>
          </a:p>
          <a:p>
            <a:r>
              <a:rPr lang="en-US" sz="1800" dirty="0"/>
              <a:t>Handles (Files)</a:t>
            </a:r>
          </a:p>
          <a:p>
            <a:r>
              <a:rPr lang="en-US" sz="1800" dirty="0"/>
              <a:t>Recently executed binaries</a:t>
            </a:r>
          </a:p>
          <a:p>
            <a:endParaRPr lang="en-US" sz="18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7E8602-C6D9-794F-87F3-D9BEC1FB7D5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Modules/Libraries</a:t>
            </a:r>
          </a:p>
          <a:p>
            <a:r>
              <a:rPr lang="en-US" sz="1800" dirty="0"/>
              <a:t>Mutexes</a:t>
            </a:r>
          </a:p>
          <a:p>
            <a:r>
              <a:rPr lang="en-US" sz="1800" dirty="0"/>
              <a:t>LSA (Local Security Authority)</a:t>
            </a:r>
          </a:p>
          <a:p>
            <a:r>
              <a:rPr lang="en-US" sz="1800" dirty="0"/>
              <a:t>Registry</a:t>
            </a:r>
          </a:p>
          <a:p>
            <a:r>
              <a:rPr lang="en-US" sz="1800" dirty="0"/>
              <a:t>…</a:t>
            </a:r>
          </a:p>
          <a:p>
            <a:r>
              <a:rPr lang="en-US" sz="1800" dirty="0"/>
              <a:t>Files</a:t>
            </a:r>
          </a:p>
          <a:p>
            <a:r>
              <a:rPr lang="en-US" sz="1800" dirty="0"/>
              <a:t>Caches (DNS, Prefetch, …)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| PV204 In-Memory Malware Analysis</a:t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35A545-624B-40D2-AFF6-9618F12C24F0}" type="slidenum">
              <a:rPr lang="cs-CZ" smtClean="0"/>
              <a:pPr>
                <a:defRPr/>
              </a:pPr>
              <a:t>24</a:t>
            </a:fld>
            <a:endParaRPr lang="cs-CZ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49" y="958396"/>
            <a:ext cx="2744542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457200"/>
            <a:r>
              <a:rPr lang="en-US" sz="3600">
                <a:ea typeface="+mj-ea"/>
              </a:rPr>
              <a:t>Memory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493" y="958396"/>
            <a:ext cx="4888157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500">
                <a:ea typeface="+mn-ea"/>
              </a:rPr>
              <a:t>Various ‘flags’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>
                <a:ea typeface="+mn-ea"/>
              </a:rPr>
              <a:t>Read/write/executable pages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>
                <a:ea typeface="+mn-ea"/>
              </a:rPr>
              <a:t>Helping OS to organize memory efficiently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500">
                <a:ea typeface="+mn-ea"/>
              </a:rPr>
              <a:t>Executable + Writable pages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>
                <a:ea typeface="+mn-ea"/>
              </a:rPr>
              <a:t>Why is it bad?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500" b="1">
                <a:ea typeface="+mn-ea"/>
              </a:rPr>
              <a:t>Process Injection Technique(s)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>
                <a:ea typeface="+mn-ea"/>
              </a:rPr>
              <a:t>Allocating a memory that can be modified (unpacked, decoded, decrypted) and executed.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>
                <a:ea typeface="+mn-ea"/>
              </a:rPr>
              <a:t>Used by legitimate processes too (Windows OLE)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16275" y="4892145"/>
            <a:ext cx="413375" cy="3148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B35A545-624B-40D2-AFF6-9618F12C24F0}" type="slidenum"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  <a:defRPr/>
              </a:pPr>
              <a:t>25</a:t>
            </a:fld>
            <a:endParaRPr lang="en-US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892145"/>
            <a:ext cx="5551715" cy="314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| PV204 In-Memory Malware Analysis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607" y="817273"/>
            <a:ext cx="3030595" cy="960107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marL="97892"/>
            <a:r>
              <a:rPr lang="en-US" dirty="0">
                <a:solidFill>
                  <a:schemeClr val="bg1"/>
                </a:solidFill>
              </a:rPr>
              <a:t>DLL/Process Injection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5A545-624B-40D2-AFF6-9618F12C24F0}" type="slidenum">
              <a:rPr lang="cs-CZ" smtClean="0"/>
              <a:pPr>
                <a:defRPr/>
              </a:pPr>
              <a:t>26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| PV204 In-Memory Malware Analysis</a:t>
            </a:r>
            <a:endParaRPr lang="cs-CZ" dirty="0"/>
          </a:p>
        </p:txBody>
      </p:sp>
      <p:pic>
        <p:nvPicPr>
          <p:cNvPr id="3074" name="Picture 2" descr="http://1.bp.blogspot.com/-NQx0mo7wOnw/UOr00ZmbtXI/AAAAAAAABag/oGjHH1YlttM/s1600/DLL%2BInjection-Function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50719" y="517242"/>
            <a:ext cx="3781688" cy="4893949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1031607" y="1897396"/>
            <a:ext cx="30003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  <a:ea typeface="Roboto" panose="02000000000000000000" pitchFamily="2" charset="0"/>
              </a:rPr>
              <a:t>So that Internet Explorer behaves like a malicious process…</a:t>
            </a:r>
          </a:p>
        </p:txBody>
      </p:sp>
    </p:spTree>
    <p:extLst>
      <p:ext uri="{BB962C8B-B14F-4D97-AF65-F5344CB8AC3E}">
        <p14:creationId xmlns:p14="http://schemas.microsoft.com/office/powerpoint/2010/main" val="36633499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A900B-0CCD-0440-8C48-391F99B4A2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5A545-624B-40D2-AFF6-9618F12C24F0}" type="slidenum">
              <a:rPr lang="cs-CZ" smtClean="0"/>
              <a:pPr>
                <a:defRPr/>
              </a:pPr>
              <a:t>27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D8269-A751-3E44-8D54-F5109652AA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| PV204 In-Memory Malware Analysis</a:t>
            </a:r>
            <a:endParaRPr lang="cs-CZ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9793AB-FF66-B946-BC0B-92979D2B5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649" y="757269"/>
            <a:ext cx="6591098" cy="436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0201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mall business cyber security: An essential guide">
            <a:extLst>
              <a:ext uri="{FF2B5EF4-FFF2-40B4-BE49-F238E27FC236}">
                <a16:creationId xmlns:a16="http://schemas.microsoft.com/office/drawing/2014/main" id="{01616D04-DAC9-A047-BB68-C952370D9B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60"/>
          <a:stretch/>
        </p:blipFill>
        <p:spPr bwMode="auto">
          <a:xfrm>
            <a:off x="20" y="10"/>
            <a:ext cx="9143980" cy="5714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799" y="1636889"/>
            <a:ext cx="5398294" cy="20178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457200">
              <a:lnSpc>
                <a:spcPct val="90000"/>
              </a:lnSpc>
            </a:pPr>
            <a:r>
              <a:rPr lang="en-US" sz="4400" dirty="0"/>
              <a:t>And now something completely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2971799" y="3505572"/>
            <a:ext cx="5398294" cy="11712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defTabSz="457200">
              <a:spcAft>
                <a:spcPts val="1000"/>
              </a:spcAft>
            </a:pPr>
            <a:r>
              <a:rPr lang="en-US" sz="44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PRACTICAL</a:t>
            </a:r>
            <a:endParaRPr lang="en-US" sz="2000" b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71799" y="4892145"/>
            <a:ext cx="3670468" cy="3148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PV204 In-Memory Malware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956718" y="4892145"/>
            <a:ext cx="413375" cy="3148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0B35A545-624B-40D2-AFF6-9618F12C24F0}" type="slidenum">
              <a:rPr lang="en-US" sz="1000" smtClean="0"/>
              <a:pPr defTabSz="914400">
                <a:spcAft>
                  <a:spcPts val="600"/>
                </a:spcAft>
                <a:defRPr/>
              </a:pPr>
              <a:t>28</a:t>
            </a:fld>
            <a:endParaRPr lang="en-US"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8830A-A19F-FC4D-8221-9BEC984CE0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5A545-624B-40D2-AFF6-9618F12C24F0}" type="slidenum">
              <a:rPr lang="cs-CZ" smtClean="0"/>
              <a:pPr>
                <a:defRPr/>
              </a:pPr>
              <a:t>29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3E0F4-BCC3-BB4F-933E-B091FCA232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| PV204 In-Memory Malware Analysis</a:t>
            </a:r>
            <a:endParaRPr lang="cs-CZ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9CE169-6ADC-C049-8DBC-C3937C44E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5584" y="698500"/>
            <a:ext cx="2772833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4116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ree Stock Photo 13814 Integrated memory chip on board | freeimageslive">
            <a:extLst>
              <a:ext uri="{FF2B5EF4-FFF2-40B4-BE49-F238E27FC236}">
                <a16:creationId xmlns:a16="http://schemas.microsoft.com/office/drawing/2014/main" id="{F80869E5-6000-964D-95C7-4E1B1C5ED8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67"/>
          <a:stretch/>
        </p:blipFill>
        <p:spPr bwMode="auto">
          <a:xfrm>
            <a:off x="20" y="10"/>
            <a:ext cx="9143980" cy="5714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7073D2B-72D9-E949-8758-DD99717C6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1799" y="1636889"/>
            <a:ext cx="5398294" cy="20178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457200"/>
            <a:r>
              <a:rPr lang="en-US" sz="4800"/>
              <a:t>Memory Acquisition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05F7AE-2E8E-5F48-874E-1EC2DA2A6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71799" y="3654776"/>
            <a:ext cx="5398294" cy="11712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defTabSz="457200">
              <a:spcAft>
                <a:spcPts val="1000"/>
              </a:spcAft>
            </a:pPr>
            <a:r>
              <a:rPr lang="en-US" sz="1800" b="1"/>
              <a:t>Phase #1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857ED-D72D-E94F-8790-8DACBCF54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71799" y="4892145"/>
            <a:ext cx="3670468" cy="314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PV204 In-Memory Malware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8E596-8193-B649-ABBE-7E3F1D42A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56718" y="4892145"/>
            <a:ext cx="413375" cy="3148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0B35A545-624B-40D2-AFF6-9618F12C24F0}" type="slidenum">
              <a:rPr lang="en-US" sz="1000" smtClean="0"/>
              <a:pPr defTabSz="914400">
                <a:spcAft>
                  <a:spcPts val="600"/>
                </a:spcAft>
                <a:defRPr/>
              </a:pPr>
              <a:t>30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4019024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49" y="958396"/>
            <a:ext cx="2744542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457200"/>
            <a:r>
              <a:rPr lang="en-US" sz="3200" dirty="0">
                <a:ea typeface="+mj-ea"/>
              </a:rPr>
              <a:t>Memory (re)sources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493" y="958396"/>
            <a:ext cx="4888157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>
                <a:ea typeface="+mn-ea"/>
              </a:rPr>
              <a:t>Live RAM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>
                <a:ea typeface="+mn-ea"/>
              </a:rPr>
              <a:t>The most common source for analysis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>
                <a:ea typeface="+mn-ea"/>
              </a:rPr>
              <a:t>Easier to obtain from virtualized hosts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>
                <a:ea typeface="+mn-ea"/>
              </a:rPr>
              <a:t>Paging file/Swap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>
                <a:ea typeface="+mn-ea"/>
              </a:rPr>
              <a:t>Used by operating systems to allocate more memory then available RAM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>
                <a:ea typeface="+mn-ea"/>
              </a:rPr>
              <a:t>Hibernation file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>
                <a:ea typeface="+mn-ea"/>
              </a:rPr>
              <a:t>Memory crash dumps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>
                <a:ea typeface="+mn-ea"/>
              </a:rPr>
              <a:t>Limited analysis options</a:t>
            </a:r>
          </a:p>
          <a:p>
            <a:pPr marL="0" indent="0"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endParaRPr lang="en-US">
              <a:ea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16275" y="4892145"/>
            <a:ext cx="413375" cy="3148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B35A545-624B-40D2-AFF6-9618F12C24F0}" type="slidenum"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  <a:defRPr/>
              </a:pPr>
              <a:t>31</a:t>
            </a:fld>
            <a:endParaRPr lang="en-US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892145"/>
            <a:ext cx="5551715" cy="314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| PV204 In-Memory Malware Analysis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| PV204 In-Memory Malware Analysis</a:t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35A545-624B-40D2-AFF6-9618F12C24F0}" type="slidenum">
              <a:rPr lang="cs-CZ" smtClean="0"/>
              <a:pPr>
                <a:defRPr/>
              </a:pPr>
              <a:t>32</a:t>
            </a:fld>
            <a:endParaRPr lang="cs-CZ" dirty="0"/>
          </a:p>
        </p:txBody>
      </p:sp>
      <p:sp>
        <p:nvSpPr>
          <p:cNvPr id="6" name="Flowchart: Decision 5"/>
          <p:cNvSpPr/>
          <p:nvPr/>
        </p:nvSpPr>
        <p:spPr>
          <a:xfrm>
            <a:off x="3131840" y="783484"/>
            <a:ext cx="1200133" cy="660073"/>
          </a:xfrm>
          <a:prstGeom prst="flowChartDecisio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33" dirty="0"/>
              <a:t>VM?</a:t>
            </a:r>
          </a:p>
        </p:txBody>
      </p:sp>
      <p:sp>
        <p:nvSpPr>
          <p:cNvPr id="7" name="Flowchart: Alternate Process 6"/>
          <p:cNvSpPr/>
          <p:nvPr/>
        </p:nvSpPr>
        <p:spPr>
          <a:xfrm>
            <a:off x="5472100" y="791058"/>
            <a:ext cx="1440160" cy="626284"/>
          </a:xfrm>
          <a:prstGeom prst="flowChartAlternate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67" dirty="0"/>
              <a:t>Memory Dump</a:t>
            </a:r>
          </a:p>
          <a:p>
            <a:pPr algn="ctr"/>
            <a:r>
              <a:rPr lang="en-US" sz="1167" dirty="0"/>
              <a:t>Snapshot</a:t>
            </a:r>
          </a:p>
          <a:p>
            <a:pPr algn="ctr"/>
            <a:r>
              <a:rPr lang="en-US" sz="1167" dirty="0"/>
              <a:t>Clone</a:t>
            </a:r>
          </a:p>
        </p:txBody>
      </p:sp>
      <p:cxnSp>
        <p:nvCxnSpPr>
          <p:cNvPr id="9" name="Straight Connector 8"/>
          <p:cNvCxnSpPr>
            <a:stCxn id="6" idx="3"/>
            <a:endCxn id="7" idx="1"/>
          </p:cNvCxnSpPr>
          <p:nvPr/>
        </p:nvCxnSpPr>
        <p:spPr>
          <a:xfrm flipV="1">
            <a:off x="4331973" y="1104200"/>
            <a:ext cx="1140127" cy="9323"/>
          </a:xfrm>
          <a:prstGeom prst="line">
            <a:avLst/>
          </a:prstGeom>
          <a:ln w="1905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Flowchart: Decision 16"/>
          <p:cNvSpPr/>
          <p:nvPr/>
        </p:nvSpPr>
        <p:spPr>
          <a:xfrm>
            <a:off x="2831807" y="1837387"/>
            <a:ext cx="1800200" cy="960107"/>
          </a:xfrm>
          <a:prstGeom prst="flowChartDecisio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33" dirty="0"/>
              <a:t>Running?</a:t>
            </a:r>
          </a:p>
        </p:txBody>
      </p:sp>
      <p:sp>
        <p:nvSpPr>
          <p:cNvPr id="19" name="Flowchart: Alternate Process 18"/>
          <p:cNvSpPr/>
          <p:nvPr/>
        </p:nvSpPr>
        <p:spPr>
          <a:xfrm>
            <a:off x="5472100" y="1991191"/>
            <a:ext cx="1440160" cy="626284"/>
          </a:xfrm>
          <a:prstGeom prst="flowChartAlternate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67" dirty="0"/>
              <a:t>Hibernation File</a:t>
            </a:r>
          </a:p>
          <a:p>
            <a:pPr algn="ctr"/>
            <a:r>
              <a:rPr lang="en-US" sz="1167" dirty="0"/>
              <a:t>Page File (Swap)</a:t>
            </a:r>
          </a:p>
          <a:p>
            <a:pPr algn="ctr"/>
            <a:r>
              <a:rPr lang="en-US" sz="1167" dirty="0"/>
              <a:t>Crash Dumps</a:t>
            </a:r>
          </a:p>
        </p:txBody>
      </p:sp>
      <p:sp>
        <p:nvSpPr>
          <p:cNvPr id="20" name="Flowchart: Decision 19"/>
          <p:cNvSpPr/>
          <p:nvPr/>
        </p:nvSpPr>
        <p:spPr>
          <a:xfrm>
            <a:off x="2831807" y="3217540"/>
            <a:ext cx="1800200" cy="960107"/>
          </a:xfrm>
          <a:prstGeom prst="flowChartDecisio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33" dirty="0"/>
              <a:t>Got root?</a:t>
            </a:r>
          </a:p>
        </p:txBody>
      </p:sp>
      <p:sp>
        <p:nvSpPr>
          <p:cNvPr id="21" name="Flowchart: Alternate Process 20"/>
          <p:cNvSpPr/>
          <p:nvPr/>
        </p:nvSpPr>
        <p:spPr>
          <a:xfrm>
            <a:off x="5472100" y="3157535"/>
            <a:ext cx="1440160" cy="1106338"/>
          </a:xfrm>
          <a:prstGeom prst="flowChartAlternate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67" dirty="0"/>
              <a:t>Dumping locally</a:t>
            </a:r>
          </a:p>
          <a:p>
            <a:pPr algn="ctr"/>
            <a:r>
              <a:rPr lang="en-US" sz="1167" dirty="0"/>
              <a:t>Remote access?</a:t>
            </a:r>
          </a:p>
          <a:p>
            <a:pPr algn="ctr"/>
            <a:r>
              <a:rPr lang="en-US" sz="1167" dirty="0"/>
              <a:t>Cost / Benefits</a:t>
            </a:r>
          </a:p>
          <a:p>
            <a:pPr algn="ctr"/>
            <a:r>
              <a:rPr lang="en-US" sz="1167" dirty="0"/>
              <a:t>Tool Footprint</a:t>
            </a:r>
          </a:p>
        </p:txBody>
      </p:sp>
      <p:sp>
        <p:nvSpPr>
          <p:cNvPr id="22" name="Flowchart: Alternate Process 21"/>
          <p:cNvSpPr/>
          <p:nvPr/>
        </p:nvSpPr>
        <p:spPr>
          <a:xfrm>
            <a:off x="3011827" y="4717707"/>
            <a:ext cx="1440160" cy="480053"/>
          </a:xfrm>
          <a:prstGeom prst="flowChartAlternate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67" dirty="0"/>
              <a:t>FireWire</a:t>
            </a:r>
          </a:p>
          <a:p>
            <a:pPr algn="ctr"/>
            <a:r>
              <a:rPr lang="en-US" sz="1167" dirty="0"/>
              <a:t>PCI Probes</a:t>
            </a:r>
          </a:p>
        </p:txBody>
      </p:sp>
      <p:cxnSp>
        <p:nvCxnSpPr>
          <p:cNvPr id="34" name="Straight Connector 33"/>
          <p:cNvCxnSpPr>
            <a:stCxn id="6" idx="2"/>
            <a:endCxn id="17" idx="0"/>
          </p:cNvCxnSpPr>
          <p:nvPr/>
        </p:nvCxnSpPr>
        <p:spPr>
          <a:xfrm>
            <a:off x="3731907" y="1443560"/>
            <a:ext cx="0" cy="393829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17" idx="2"/>
            <a:endCxn id="20" idx="0"/>
          </p:cNvCxnSpPr>
          <p:nvPr/>
        </p:nvCxnSpPr>
        <p:spPr>
          <a:xfrm>
            <a:off x="3731907" y="2797493"/>
            <a:ext cx="0" cy="420047"/>
          </a:xfrm>
          <a:prstGeom prst="line">
            <a:avLst/>
          </a:prstGeom>
          <a:ln w="1905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17" idx="3"/>
            <a:endCxn id="19" idx="1"/>
          </p:cNvCxnSpPr>
          <p:nvPr/>
        </p:nvCxnSpPr>
        <p:spPr>
          <a:xfrm flipV="1">
            <a:off x="4632007" y="2304332"/>
            <a:ext cx="840093" cy="13108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20" idx="3"/>
            <a:endCxn id="21" idx="1"/>
          </p:cNvCxnSpPr>
          <p:nvPr/>
        </p:nvCxnSpPr>
        <p:spPr>
          <a:xfrm>
            <a:off x="4632007" y="3697596"/>
            <a:ext cx="840093" cy="13109"/>
          </a:xfrm>
          <a:prstGeom prst="line">
            <a:avLst/>
          </a:prstGeom>
          <a:ln w="28575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20" idx="2"/>
            <a:endCxn id="22" idx="0"/>
          </p:cNvCxnSpPr>
          <p:nvPr/>
        </p:nvCxnSpPr>
        <p:spPr>
          <a:xfrm>
            <a:off x="3731907" y="4177647"/>
            <a:ext cx="0" cy="54006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654083" y="860827"/>
            <a:ext cx="442750" cy="2719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67" dirty="0"/>
              <a:t>Yes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93976" y="2901054"/>
            <a:ext cx="442750" cy="2719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67" dirty="0"/>
              <a:t>Yes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34103" y="3457568"/>
            <a:ext cx="442750" cy="2719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67" dirty="0"/>
              <a:t>Yes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7034" y="1520901"/>
            <a:ext cx="375424" cy="2719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67" dirty="0"/>
              <a:t>No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27154" y="2077415"/>
            <a:ext cx="375424" cy="2719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67" dirty="0"/>
              <a:t>No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31907" y="4297662"/>
            <a:ext cx="375424" cy="2719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67" dirty="0"/>
              <a:t>No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1608" y="757267"/>
            <a:ext cx="697563" cy="45005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3333" b="1" dirty="0">
                <a:latin typeface="+mj-lt"/>
              </a:rPr>
              <a:t>Memory Acquisition</a:t>
            </a:r>
          </a:p>
        </p:txBody>
      </p:sp>
    </p:spTree>
    <p:extLst>
      <p:ext uri="{BB962C8B-B14F-4D97-AF65-F5344CB8AC3E}">
        <p14:creationId xmlns:p14="http://schemas.microsoft.com/office/powerpoint/2010/main" val="20048637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49" y="958396"/>
            <a:ext cx="2744542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457200"/>
            <a:r>
              <a:rPr lang="en-US" sz="3200" dirty="0">
                <a:ea typeface="+mj-ea"/>
              </a:rPr>
              <a:t>Memory Acquisition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493" y="958396"/>
            <a:ext cx="4888157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500" b="1" dirty="0">
                <a:ea typeface="+mn-ea"/>
              </a:rPr>
              <a:t>Virtual Machines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 dirty="0">
                <a:ea typeface="+mn-ea"/>
              </a:rPr>
              <a:t>VMWare, VirtualBox, </a:t>
            </a:r>
            <a:r>
              <a:rPr lang="en-US" sz="1500" dirty="0" err="1">
                <a:ea typeface="+mn-ea"/>
              </a:rPr>
              <a:t>Qemu</a:t>
            </a:r>
            <a:r>
              <a:rPr lang="en-US" sz="1500" dirty="0">
                <a:ea typeface="+mn-ea"/>
              </a:rPr>
              <a:t>, …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500" dirty="0">
                <a:ea typeface="+mn-ea"/>
              </a:rPr>
              <a:t>Directly from the system!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500" dirty="0">
                <a:ea typeface="+mn-ea"/>
              </a:rPr>
              <a:t>if we have permissions to do that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 dirty="0" err="1">
                <a:ea typeface="+mn-ea"/>
              </a:rPr>
              <a:t>windd</a:t>
            </a:r>
            <a:r>
              <a:rPr lang="en-US" sz="1500" dirty="0">
                <a:ea typeface="+mn-ea"/>
              </a:rPr>
              <a:t>, </a:t>
            </a:r>
            <a:r>
              <a:rPr lang="en-US" sz="1500" dirty="0" err="1">
                <a:ea typeface="+mn-ea"/>
              </a:rPr>
              <a:t>fastdump</a:t>
            </a:r>
            <a:r>
              <a:rPr lang="en-US" sz="1500" dirty="0">
                <a:ea typeface="+mn-ea"/>
              </a:rPr>
              <a:t>, </a:t>
            </a:r>
            <a:r>
              <a:rPr lang="en-US" sz="1500" dirty="0" err="1">
                <a:ea typeface="+mn-ea"/>
              </a:rPr>
              <a:t>dumpit</a:t>
            </a:r>
            <a:r>
              <a:rPr lang="en-US" sz="1500" dirty="0">
                <a:ea typeface="+mn-ea"/>
              </a:rPr>
              <a:t>, memorize, </a:t>
            </a:r>
            <a:r>
              <a:rPr lang="en-US" sz="1500" b="1" dirty="0" err="1">
                <a:ea typeface="+mn-ea"/>
              </a:rPr>
              <a:t>winpmem</a:t>
            </a:r>
            <a:endParaRPr lang="en-US" sz="1500" b="1" dirty="0">
              <a:ea typeface="+mn-ea"/>
            </a:endParaRP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 dirty="0">
                <a:ea typeface="+mn-ea"/>
              </a:rPr>
              <a:t>Or we can hibernate the system (</a:t>
            </a:r>
            <a:r>
              <a:rPr lang="en-US" sz="1500" dirty="0" err="1">
                <a:ea typeface="+mn-ea"/>
              </a:rPr>
              <a:t>hiberfil.sys</a:t>
            </a:r>
            <a:r>
              <a:rPr lang="en-US" sz="1500" dirty="0">
                <a:ea typeface="+mn-ea"/>
              </a:rPr>
              <a:t>)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500" dirty="0">
                <a:ea typeface="+mn-ea"/>
              </a:rPr>
              <a:t>Remotely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 dirty="0">
                <a:ea typeface="+mn-ea"/>
              </a:rPr>
              <a:t>Encase Enterprise, Mandiant Intelligent Response, Access Data FTK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16275" y="4892145"/>
            <a:ext cx="413375" cy="3148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B35A545-624B-40D2-AFF6-9618F12C24F0}" type="slidenum"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  <a:defRPr/>
              </a:pPr>
              <a:t>33</a:t>
            </a:fld>
            <a:endParaRPr lang="en-US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892145"/>
            <a:ext cx="5551715" cy="314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| PV204 In-Memory Malware Analysis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688D15-8A69-E25A-893A-A749DCD84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60E06-72CB-12FE-964A-E099A0903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49" y="958396"/>
            <a:ext cx="2744542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457200"/>
            <a:r>
              <a:rPr lang="en-US" sz="3200" dirty="0">
                <a:ea typeface="+mj-ea"/>
              </a:rPr>
              <a:t>Memory Acquisition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F998C-EECC-DB46-EA74-83275DB92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1493" y="958396"/>
            <a:ext cx="4888157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1000"/>
              </a:spcAft>
              <a:buFont typeface="Arial"/>
              <a:buChar char="•"/>
            </a:pPr>
            <a:r>
              <a:rPr lang="en-US" sz="1800" dirty="0">
                <a:ea typeface="+mn-ea"/>
              </a:rPr>
              <a:t>Common collection issues</a:t>
            </a:r>
          </a:p>
          <a:p>
            <a:pPr lvl="1" defTabSz="457200"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600" dirty="0">
                <a:ea typeface="+mn-ea"/>
              </a:rPr>
              <a:t>Unsupported OS (Linux, MacOS; 32bit/64bit)</a:t>
            </a:r>
          </a:p>
          <a:p>
            <a:pPr lvl="1" defTabSz="457200"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600" dirty="0">
                <a:ea typeface="+mn-ea"/>
              </a:rPr>
              <a:t>Swap (portions of memory on drive)</a:t>
            </a:r>
          </a:p>
          <a:p>
            <a:pPr lvl="1" defTabSz="457200"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600" dirty="0">
                <a:ea typeface="+mn-ea"/>
              </a:rPr>
              <a:t>Protected host memory</a:t>
            </a:r>
          </a:p>
          <a:p>
            <a:pPr lvl="2" defTabSz="457200">
              <a:spcAft>
                <a:spcPts val="1000"/>
              </a:spcAft>
              <a:buClr>
                <a:schemeClr val="tx1"/>
              </a:buClr>
            </a:pPr>
            <a:r>
              <a:rPr lang="en-US" sz="1600" dirty="0">
                <a:ea typeface="+mn-ea"/>
              </a:rPr>
              <a:t>Encryption, OS-level protections</a:t>
            </a:r>
          </a:p>
          <a:p>
            <a:pPr lvl="1" defTabSz="457200"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600" dirty="0">
                <a:ea typeface="+mn-ea"/>
              </a:rPr>
              <a:t>Malware not running inside a virtual machine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AD1FF-830B-0601-FA0F-AEE82C5A00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216275" y="4892145"/>
            <a:ext cx="413375" cy="3148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B35A545-624B-40D2-AFF6-9618F12C24F0}" type="slidenum"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  <a:defRPr/>
              </a:pPr>
              <a:t>34</a:t>
            </a:fld>
            <a:endParaRPr lang="en-US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C5E32-DC6F-4C53-75F2-2E8CF7A65E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4350" y="4892145"/>
            <a:ext cx="5551715" cy="314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| PV204 In-Memory Malware Analysis</a:t>
            </a:r>
          </a:p>
        </p:txBody>
      </p:sp>
    </p:spTree>
    <p:extLst>
      <p:ext uri="{BB962C8B-B14F-4D97-AF65-F5344CB8AC3E}">
        <p14:creationId xmlns:p14="http://schemas.microsoft.com/office/powerpoint/2010/main" val="28793311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49" y="958396"/>
            <a:ext cx="2744542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457200"/>
            <a:r>
              <a:rPr lang="en-US" sz="3200" dirty="0">
                <a:ea typeface="+mj-ea"/>
              </a:rPr>
              <a:t>Memory Acquisition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493" y="958396"/>
            <a:ext cx="4888157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500" b="1" dirty="0">
                <a:ea typeface="+mn-ea"/>
              </a:rPr>
              <a:t>Local memory acquisition</a:t>
            </a:r>
            <a:endParaRPr lang="en-US" sz="1500" dirty="0">
              <a:ea typeface="+mn-ea"/>
            </a:endParaRP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 dirty="0">
                <a:ea typeface="+mn-ea"/>
              </a:rPr>
              <a:t>Unless you have plenty of money, try to get root/admin access to the host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 dirty="0">
                <a:ea typeface="+mn-ea"/>
              </a:rPr>
              <a:t>Better to acquire to external storage (USB, network)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 dirty="0">
                <a:ea typeface="+mn-ea"/>
              </a:rPr>
              <a:t>The lower tool’s memory footprint, the better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 dirty="0">
                <a:ea typeface="+mn-ea"/>
              </a:rPr>
              <a:t>If you run malware in a VM, better have less RAM</a:t>
            </a:r>
          </a:p>
          <a:p>
            <a:pPr lvl="2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</a:pPr>
            <a:r>
              <a:rPr lang="en-US" sz="1500" dirty="0">
                <a:ea typeface="+mn-ea"/>
              </a:rPr>
              <a:t>Faster analysis</a:t>
            </a:r>
          </a:p>
          <a:p>
            <a:pPr lvl="2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</a:pPr>
            <a:r>
              <a:rPr lang="en-US" sz="1500" dirty="0">
                <a:ea typeface="+mn-ea"/>
              </a:rPr>
              <a:t>Configure no swap for the system</a:t>
            </a:r>
          </a:p>
          <a:p>
            <a:pPr lvl="2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</a:pPr>
            <a:r>
              <a:rPr lang="en-US" sz="1500" dirty="0">
                <a:ea typeface="+mn-ea"/>
              </a:rPr>
              <a:t>However: malware can check for the available memory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endParaRPr lang="en-US" sz="1500" dirty="0">
              <a:ea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16275" y="4892145"/>
            <a:ext cx="413375" cy="3148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B35A545-624B-40D2-AFF6-9618F12C24F0}" type="slidenum"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  <a:defRPr/>
              </a:pPr>
              <a:t>35</a:t>
            </a:fld>
            <a:endParaRPr lang="en-US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892145"/>
            <a:ext cx="5551715" cy="314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| PV204 In-Memory Malware Analysis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49" y="958396"/>
            <a:ext cx="2744542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457200"/>
            <a:r>
              <a:rPr lang="en-US" sz="3200" dirty="0">
                <a:ea typeface="+mj-ea"/>
              </a:rPr>
              <a:t>Memory Acquisition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493" y="958396"/>
            <a:ext cx="4888157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600" b="1" dirty="0">
                <a:ea typeface="+mn-ea"/>
              </a:rPr>
              <a:t>Remote memory acquisition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600" dirty="0">
                <a:ea typeface="+mn-ea"/>
              </a:rPr>
              <a:t>Very useful for fast Incident Response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600" dirty="0">
                <a:ea typeface="+mn-ea"/>
              </a:rPr>
              <a:t>Requires enterprise licenses for the commercial tools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600" dirty="0">
                <a:ea typeface="+mn-ea"/>
              </a:rPr>
              <a:t>Acquisition is done over network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600" dirty="0">
                <a:ea typeface="+mn-ea"/>
              </a:rPr>
              <a:t>Agents already in memory, no extra memory demands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600" dirty="0">
                <a:ea typeface="+mn-ea"/>
              </a:rPr>
              <a:t>Modern EDR/XDR solutions support this too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16275" y="4892145"/>
            <a:ext cx="413375" cy="3148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B35A545-624B-40D2-AFF6-9618F12C24F0}" type="slidenum"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  <a:defRPr/>
              </a:pPr>
              <a:t>36</a:t>
            </a:fld>
            <a:endParaRPr lang="en-US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892145"/>
            <a:ext cx="5551715" cy="314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| PV204 In-Memory Malware Analysis</a:t>
            </a:r>
          </a:p>
        </p:txBody>
      </p:sp>
    </p:spTree>
    <p:extLst>
      <p:ext uri="{BB962C8B-B14F-4D97-AF65-F5344CB8AC3E}">
        <p14:creationId xmlns:p14="http://schemas.microsoft.com/office/powerpoint/2010/main" val="20926719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ecovering deleted NTFS Files with Velociraptor | by Mike Cohen |  Velociraptor IR">
            <a:extLst>
              <a:ext uri="{FF2B5EF4-FFF2-40B4-BE49-F238E27FC236}">
                <a16:creationId xmlns:a16="http://schemas.microsoft.com/office/drawing/2014/main" id="{18723F8D-8D22-6142-AE87-BED79866A0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27" r="1374"/>
          <a:stretch/>
        </p:blipFill>
        <p:spPr bwMode="auto">
          <a:xfrm>
            <a:off x="20" y="10"/>
            <a:ext cx="9143980" cy="5714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5A7DC5C5-D3F1-574C-83D3-CD82287A6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1799" y="1636889"/>
            <a:ext cx="5398294" cy="20178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457200"/>
            <a:r>
              <a:rPr lang="en-US" sz="4800"/>
              <a:t>Memory Analysis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D404CC9-6E09-174C-B128-F31737773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71799" y="3654776"/>
            <a:ext cx="5398294" cy="11712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defTabSz="457200">
              <a:spcAft>
                <a:spcPts val="1000"/>
              </a:spcAft>
            </a:pPr>
            <a:r>
              <a:rPr lang="en-US" sz="1800" b="1"/>
              <a:t>Phase #2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342D9-2A3C-8741-81E2-6082A24C3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71799" y="4892145"/>
            <a:ext cx="3670468" cy="3148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PV204 In-Memory Malware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AD2C7-E7A1-C44F-886A-5694041BD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56718" y="4892145"/>
            <a:ext cx="413375" cy="3148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0B35A545-624B-40D2-AFF6-9618F12C24F0}" type="slidenum">
              <a:rPr lang="en-US" sz="1000" smtClean="0"/>
              <a:pPr defTabSz="914400">
                <a:spcAft>
                  <a:spcPts val="600"/>
                </a:spcAft>
                <a:defRPr/>
              </a:pPr>
              <a:t>37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8582448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49" y="958396"/>
            <a:ext cx="2744542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457200"/>
            <a:r>
              <a:rPr lang="en-US" sz="3600">
                <a:ea typeface="+mj-ea"/>
              </a:rPr>
              <a:t>Memory Analysis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493" y="958396"/>
            <a:ext cx="4888157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1000"/>
              </a:spcAft>
              <a:buFont typeface="Arial"/>
              <a:buChar char="•"/>
            </a:pPr>
            <a:r>
              <a:rPr lang="en-US">
                <a:ea typeface="+mn-ea"/>
              </a:rPr>
              <a:t>FireEye Redline</a:t>
            </a:r>
          </a:p>
          <a:p>
            <a:pPr lvl="1" defTabSz="457200"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>
                <a:ea typeface="+mn-ea"/>
              </a:rPr>
              <a:t>Free, available for Windows</a:t>
            </a:r>
          </a:p>
          <a:p>
            <a:pPr defTabSz="457200">
              <a:spcAft>
                <a:spcPts val="1000"/>
              </a:spcAft>
              <a:buFont typeface="Arial"/>
              <a:buChar char="•"/>
            </a:pPr>
            <a:r>
              <a:rPr lang="en-US">
                <a:ea typeface="+mn-ea"/>
              </a:rPr>
              <a:t>HBGary/GoSecure Responder Pro</a:t>
            </a:r>
          </a:p>
          <a:p>
            <a:pPr lvl="1" defTabSz="457200"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>
                <a:ea typeface="+mn-ea"/>
              </a:rPr>
              <a:t>Community Edition used to be available</a:t>
            </a:r>
          </a:p>
          <a:p>
            <a:pPr defTabSz="457200">
              <a:spcAft>
                <a:spcPts val="1000"/>
              </a:spcAft>
              <a:buFont typeface="Arial"/>
              <a:buChar char="•"/>
            </a:pPr>
            <a:r>
              <a:rPr lang="en-US" b="1">
                <a:ea typeface="+mn-ea"/>
              </a:rPr>
              <a:t>Volatility Framework</a:t>
            </a:r>
          </a:p>
          <a:p>
            <a:pPr lvl="1" defTabSz="457200"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>
                <a:ea typeface="+mn-ea"/>
              </a:rPr>
              <a:t>Open source, no GUI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16275" y="4892145"/>
            <a:ext cx="413375" cy="3148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B35A545-624B-40D2-AFF6-9618F12C24F0}" type="slidenum"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  <a:defRPr/>
              </a:pPr>
              <a:t>38</a:t>
            </a:fld>
            <a:endParaRPr lang="en-US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892145"/>
            <a:ext cx="5551715" cy="314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| PV204 In-Memory Malware Analysis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49" y="958396"/>
            <a:ext cx="2744542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457200"/>
            <a:r>
              <a:rPr lang="en-US" sz="3600">
                <a:ea typeface="+mj-ea"/>
              </a:rPr>
              <a:t>FireEye Redline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493" y="958396"/>
            <a:ext cx="4888157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500">
                <a:ea typeface="+mn-ea"/>
              </a:rPr>
              <a:t>Free tool for Incident Response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>
                <a:ea typeface="+mn-ea"/>
              </a:rPr>
              <a:t>Not open-source, though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>
                <a:ea typeface="+mn-ea"/>
              </a:rPr>
              <a:t>.NET executable (runs only under Windows)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>
                <a:ea typeface="+mn-ea"/>
              </a:rPr>
              <a:t>Support OS X and Linux artifacts too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500">
                <a:ea typeface="+mn-ea"/>
              </a:rPr>
              <a:t>Nice and simple user interface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>
                <a:ea typeface="+mn-ea"/>
              </a:rPr>
              <a:t>Very nice analysis workflow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>
                <a:ea typeface="+mn-ea"/>
              </a:rPr>
              <a:t>Perfect for searching for string information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>
                <a:ea typeface="+mn-ea"/>
              </a:rPr>
              <a:t>Rates the level of suspiciousness over processes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500">
                <a:ea typeface="+mn-ea"/>
              </a:rPr>
              <a:t>Sad things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500">
                <a:ea typeface="+mn-ea"/>
              </a:rPr>
              <a:t>Memory analysis not reliable, process rating as well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16275" y="4892145"/>
            <a:ext cx="413375" cy="3148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B35A545-624B-40D2-AFF6-9618F12C24F0}" type="slidenum"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  <a:defRPr/>
              </a:pPr>
              <a:t>39</a:t>
            </a:fld>
            <a:endParaRPr lang="en-US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892145"/>
            <a:ext cx="5551715" cy="314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| PV204 In-Memory Malware Analysis</a:t>
            </a:r>
          </a:p>
        </p:txBody>
      </p:sp>
    </p:spTree>
    <p:extLst>
      <p:ext uri="{BB962C8B-B14F-4D97-AF65-F5344CB8AC3E}">
        <p14:creationId xmlns:p14="http://schemas.microsoft.com/office/powerpoint/2010/main" val="31727377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4" t="6126" r="21339" b="10864"/>
          <a:stretch/>
        </p:blipFill>
        <p:spPr>
          <a:xfrm>
            <a:off x="-13285" y="0"/>
            <a:ext cx="9144000" cy="5715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51920" y="4873724"/>
            <a:ext cx="4762500" cy="605230"/>
          </a:xfrm>
          <a:prstGeom prst="rect">
            <a:avLst/>
          </a:prstGeom>
          <a:solidFill>
            <a:srgbClr val="FFC000">
              <a:alpha val="60000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333" b="1" dirty="0">
                <a:latin typeface="+mj-lt"/>
              </a:rPr>
              <a:t>Redline: Start</a:t>
            </a:r>
          </a:p>
        </p:txBody>
      </p:sp>
    </p:spTree>
    <p:extLst>
      <p:ext uri="{BB962C8B-B14F-4D97-AF65-F5344CB8AC3E}">
        <p14:creationId xmlns:p14="http://schemas.microsoft.com/office/powerpoint/2010/main" val="19138039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17" r="24569"/>
          <a:stretch/>
        </p:blipFill>
        <p:spPr>
          <a:xfrm>
            <a:off x="409856" y="517525"/>
            <a:ext cx="6576732" cy="49325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85660" y="4579019"/>
            <a:ext cx="4762500" cy="605230"/>
          </a:xfrm>
          <a:prstGeom prst="rect">
            <a:avLst/>
          </a:prstGeom>
          <a:solidFill>
            <a:srgbClr val="FFC000">
              <a:alpha val="60000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333" b="1" dirty="0"/>
              <a:t>Redline: Timeline</a:t>
            </a:r>
          </a:p>
        </p:txBody>
      </p:sp>
    </p:spTree>
    <p:extLst>
      <p:ext uri="{BB962C8B-B14F-4D97-AF65-F5344CB8AC3E}">
        <p14:creationId xmlns:p14="http://schemas.microsoft.com/office/powerpoint/2010/main" val="38353075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8" r="13971"/>
          <a:stretch/>
        </p:blipFill>
        <p:spPr>
          <a:xfrm>
            <a:off x="412006" y="524888"/>
            <a:ext cx="6570060" cy="49226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91847" y="4889500"/>
            <a:ext cx="4999653" cy="605230"/>
          </a:xfrm>
          <a:prstGeom prst="rect">
            <a:avLst/>
          </a:prstGeom>
          <a:solidFill>
            <a:srgbClr val="FFC000">
              <a:alpha val="60000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333" b="1" dirty="0"/>
              <a:t>Redline: Time Wrinkles</a:t>
            </a:r>
          </a:p>
        </p:txBody>
      </p:sp>
    </p:spTree>
    <p:extLst>
      <p:ext uri="{BB962C8B-B14F-4D97-AF65-F5344CB8AC3E}">
        <p14:creationId xmlns:p14="http://schemas.microsoft.com/office/powerpoint/2010/main" val="13385685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49" y="958396"/>
            <a:ext cx="2744542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457200"/>
            <a:r>
              <a:rPr lang="en-US" sz="3600">
                <a:ea typeface="+mj-ea"/>
              </a:rPr>
              <a:t>HBGary Responder (Pro/CE)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493" y="958396"/>
            <a:ext cx="4888157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300">
                <a:ea typeface="+mn-ea"/>
              </a:rPr>
              <a:t>Professional Tool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300">
                <a:ea typeface="+mn-ea"/>
              </a:rPr>
              <a:t>Very expensive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300">
                <a:ea typeface="+mn-ea"/>
              </a:rPr>
              <a:t>Yet not very well maintained in the last few years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300">
                <a:ea typeface="+mn-ea"/>
              </a:rPr>
              <a:t>Windows only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300">
                <a:ea typeface="+mn-ea"/>
              </a:rPr>
              <a:t>.NET written, supports only Windows images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300">
                <a:ea typeface="+mn-ea"/>
              </a:rPr>
              <a:t>‘Killer’ features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300">
                <a:ea typeface="+mn-ea"/>
              </a:rPr>
              <a:t>Digital DNA</a:t>
            </a:r>
          </a:p>
          <a:p>
            <a:pPr lvl="2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</a:pPr>
            <a:r>
              <a:rPr lang="en-US" sz="1300">
                <a:ea typeface="+mn-ea"/>
              </a:rPr>
              <a:t>automatic rating of suspicious processes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300">
                <a:ea typeface="+mn-ea"/>
              </a:rPr>
              <a:t>Visual ‘Canvas’ debugger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300">
                <a:ea typeface="+mn-ea"/>
              </a:rPr>
              <a:t>Supports the analysis of (unpacked) binaries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300">
                <a:ea typeface="+mn-ea"/>
              </a:rPr>
              <a:t>Replaced with CounterTack Responder Pro</a:t>
            </a:r>
          </a:p>
          <a:p>
            <a:pPr marL="0" indent="0"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endParaRPr lang="en-US" sz="1300">
              <a:ea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16275" y="4892145"/>
            <a:ext cx="413375" cy="3148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B35A545-624B-40D2-AFF6-9618F12C24F0}" type="slidenum"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  <a:defRPr/>
              </a:pPr>
              <a:t>43</a:t>
            </a:fld>
            <a:endParaRPr lang="en-US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892145"/>
            <a:ext cx="5551715" cy="314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| PV204 In-Memory Malware Analysis</a:t>
            </a:r>
          </a:p>
        </p:txBody>
      </p:sp>
    </p:spTree>
    <p:extLst>
      <p:ext uri="{BB962C8B-B14F-4D97-AF65-F5344CB8AC3E}">
        <p14:creationId xmlns:p14="http://schemas.microsoft.com/office/powerpoint/2010/main" val="17688487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HBGary</a:t>
            </a:r>
            <a:r>
              <a:rPr lang="en-US" dirty="0"/>
              <a:t> Responder Pro -- DDNA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 of the ‘reasoning’ behind DDNA</a:t>
            </a:r>
          </a:p>
          <a:p>
            <a:pPr lvl="1"/>
            <a:r>
              <a:rPr lang="en-US" dirty="0"/>
              <a:t>Does the process communicate over TCP/IP?</a:t>
            </a:r>
          </a:p>
          <a:p>
            <a:pPr lvl="1"/>
            <a:r>
              <a:rPr lang="en-US" dirty="0"/>
              <a:t>Does it manipulate with registry?</a:t>
            </a:r>
          </a:p>
          <a:p>
            <a:pPr lvl="1"/>
            <a:r>
              <a:rPr lang="en-US" dirty="0"/>
              <a:t>Did the analysis reveal any known bad stuff (strings, IPs, mutexes?)</a:t>
            </a:r>
          </a:p>
          <a:p>
            <a:pPr lvl="1"/>
            <a:r>
              <a:rPr lang="en-US" dirty="0"/>
              <a:t>Does the process access any other process in the system?</a:t>
            </a:r>
          </a:p>
          <a:p>
            <a:pPr lvl="1"/>
            <a:r>
              <a:rPr lang="en-US" dirty="0"/>
              <a:t>Does it access some system-critical process?</a:t>
            </a:r>
          </a:p>
          <a:p>
            <a:pPr lvl="1"/>
            <a:r>
              <a:rPr lang="en-US" dirty="0"/>
              <a:t>Did the analysis find any evidence of obfuscation?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5A545-624B-40D2-AFF6-9618F12C24F0}" type="slidenum">
              <a:rPr lang="cs-CZ" smtClean="0"/>
              <a:pPr>
                <a:defRPr/>
              </a:pPr>
              <a:t>44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| PV204 In-Memory Malware Analysis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982040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E525127\Documents\SOC\Trainings\responder-ddna.png"/>
          <p:cNvPicPr>
            <a:picLocks noChangeAspect="1" noChangeArrowheads="1"/>
          </p:cNvPicPr>
          <p:nvPr/>
        </p:nvPicPr>
        <p:blipFill>
          <a:blip r:embed="rId2" cstate="print"/>
          <a:srcRect r="33094"/>
          <a:stretch>
            <a:fillRect/>
          </a:stretch>
        </p:blipFill>
        <p:spPr bwMode="auto">
          <a:xfrm>
            <a:off x="762000" y="0"/>
            <a:ext cx="7620000" cy="5715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3429000" y="4889500"/>
            <a:ext cx="4762500" cy="605230"/>
          </a:xfrm>
          <a:prstGeom prst="rect">
            <a:avLst/>
          </a:prstGeom>
          <a:solidFill>
            <a:srgbClr val="FFC000">
              <a:alpha val="60000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cs-CZ" sz="3333" b="1" dirty="0"/>
              <a:t>Responder Pro: DDNA</a:t>
            </a:r>
            <a:endParaRPr lang="en-US" sz="3333" b="1" dirty="0"/>
          </a:p>
        </p:txBody>
      </p:sp>
    </p:spTree>
    <p:extLst>
      <p:ext uri="{BB962C8B-B14F-4D97-AF65-F5344CB8AC3E}">
        <p14:creationId xmlns:p14="http://schemas.microsoft.com/office/powerpoint/2010/main" val="32153938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E525127\Documents\SOC\Trainings\responder-ddna.png"/>
          <p:cNvPicPr>
            <a:picLocks noChangeAspect="1" noChangeArrowheads="1"/>
          </p:cNvPicPr>
          <p:nvPr/>
        </p:nvPicPr>
        <p:blipFill>
          <a:blip r:embed="rId2" cstate="print"/>
          <a:srcRect l="36241" r="-3147"/>
          <a:stretch>
            <a:fillRect/>
          </a:stretch>
        </p:blipFill>
        <p:spPr bwMode="auto">
          <a:xfrm>
            <a:off x="762000" y="0"/>
            <a:ext cx="7620000" cy="57150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3429000" y="4889500"/>
            <a:ext cx="4762500" cy="605230"/>
          </a:xfrm>
          <a:prstGeom prst="rect">
            <a:avLst/>
          </a:prstGeom>
          <a:solidFill>
            <a:srgbClr val="FFC000">
              <a:alpha val="60000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cs-CZ" sz="3333" b="1" dirty="0"/>
              <a:t>Responder Pro: DDNA</a:t>
            </a:r>
            <a:endParaRPr lang="en-US" sz="3333" b="1" dirty="0"/>
          </a:p>
        </p:txBody>
      </p:sp>
    </p:spTree>
    <p:extLst>
      <p:ext uri="{BB962C8B-B14F-4D97-AF65-F5344CB8AC3E}">
        <p14:creationId xmlns:p14="http://schemas.microsoft.com/office/powerpoint/2010/main" val="25964587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E525127\Documents\SOC\Trainings\responder-canvas.png"/>
          <p:cNvPicPr>
            <a:picLocks noChangeAspect="1" noChangeArrowheads="1"/>
          </p:cNvPicPr>
          <p:nvPr/>
        </p:nvPicPr>
        <p:blipFill>
          <a:blip r:embed="rId2" cstate="print"/>
          <a:srcRect r="27928"/>
          <a:stretch>
            <a:fillRect/>
          </a:stretch>
        </p:blipFill>
        <p:spPr bwMode="auto">
          <a:xfrm>
            <a:off x="762000" y="0"/>
            <a:ext cx="7620000" cy="57150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2711793" y="4889500"/>
            <a:ext cx="5479707" cy="605230"/>
          </a:xfrm>
          <a:prstGeom prst="rect">
            <a:avLst/>
          </a:prstGeom>
          <a:solidFill>
            <a:srgbClr val="FFC000">
              <a:alpha val="60000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cs-CZ" sz="3333" b="1" dirty="0"/>
              <a:t>Responder Pro: Canvas</a:t>
            </a:r>
            <a:endParaRPr lang="en-US" sz="3333" b="1" dirty="0"/>
          </a:p>
        </p:txBody>
      </p:sp>
    </p:spTree>
    <p:extLst>
      <p:ext uri="{BB962C8B-B14F-4D97-AF65-F5344CB8AC3E}">
        <p14:creationId xmlns:p14="http://schemas.microsoft.com/office/powerpoint/2010/main" val="16482124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49" y="958396"/>
            <a:ext cx="2744542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457200"/>
            <a:r>
              <a:rPr lang="en-US" sz="3200" dirty="0">
                <a:ea typeface="+mj-ea"/>
              </a:rPr>
              <a:t>Volatility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493" y="958396"/>
            <a:ext cx="4888157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300">
                <a:ea typeface="+mn-ea"/>
              </a:rPr>
              <a:t>Open-source tool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300">
                <a:ea typeface="+mn-ea"/>
              </a:rPr>
              <a:t>GPL licensed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300">
                <a:ea typeface="+mn-ea"/>
              </a:rPr>
              <a:t>Written in Python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300">
                <a:ea typeface="+mn-ea"/>
              </a:rPr>
              <a:t>Available for variety of platforms (Linux, Windows, Mac OS)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300">
                <a:ea typeface="+mn-ea"/>
              </a:rPr>
              <a:t>Can be automated; many contributed plugins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300">
                <a:ea typeface="+mn-ea"/>
              </a:rPr>
              <a:t>Supports analysis of memory dumps from various OSs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300">
                <a:ea typeface="+mn-ea"/>
              </a:rPr>
              <a:t>Windows, Linux, MacOS, Android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300">
                <a:ea typeface="+mn-ea"/>
              </a:rPr>
              <a:t>Both 32-bit and 64-bit versions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300">
                <a:ea typeface="+mn-ea"/>
              </a:rPr>
              <a:t>Command-line driven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300">
                <a:ea typeface="+mn-ea"/>
              </a:rPr>
              <a:t>Two (experimental) web GUIs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endParaRPr lang="en-US" sz="1300"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46217058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49" y="958396"/>
            <a:ext cx="2744542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457200"/>
            <a:r>
              <a:rPr lang="en-US" sz="3600">
                <a:ea typeface="+mj-ea"/>
              </a:rPr>
              <a:t>Additional Important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493" y="958396"/>
            <a:ext cx="4888157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1000"/>
              </a:spcAft>
              <a:buFont typeface="Arial"/>
              <a:buChar char="•"/>
            </a:pPr>
            <a:r>
              <a:rPr lang="en-US" b="1">
                <a:ea typeface="+mn-ea"/>
              </a:rPr>
              <a:t>Strings</a:t>
            </a:r>
          </a:p>
          <a:p>
            <a:pPr lvl="1" defTabSz="457200"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>
                <a:ea typeface="+mn-ea"/>
              </a:rPr>
              <a:t>Both *nix and Windows</a:t>
            </a:r>
          </a:p>
          <a:p>
            <a:pPr lvl="1" defTabSz="457200"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>
                <a:ea typeface="+mn-ea"/>
              </a:rPr>
              <a:t>Extracts strings information from the file</a:t>
            </a:r>
          </a:p>
          <a:p>
            <a:pPr lvl="1" defTabSz="457200"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>
                <a:ea typeface="+mn-ea"/>
              </a:rPr>
              <a:t>Can be used in cooperation with Volatility/Rekall</a:t>
            </a:r>
          </a:p>
          <a:p>
            <a:pPr lvl="1" defTabSz="457200"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>
                <a:ea typeface="+mn-ea"/>
              </a:rPr>
              <a:t>Beware of text encoding! (ascii, utf-8, …)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16275" y="4892145"/>
            <a:ext cx="413375" cy="3148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B35A545-624B-40D2-AFF6-9618F12C24F0}" type="slidenum"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  <a:defRPr/>
              </a:pPr>
              <a:t>49</a:t>
            </a:fld>
            <a:endParaRPr lang="en-US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892145"/>
            <a:ext cx="5551715" cy="314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| PV204 In-Memory Malware Analysis</a:t>
            </a:r>
          </a:p>
        </p:txBody>
      </p:sp>
    </p:spTree>
    <p:extLst>
      <p:ext uri="{BB962C8B-B14F-4D97-AF65-F5344CB8AC3E}">
        <p14:creationId xmlns:p14="http://schemas.microsoft.com/office/powerpoint/2010/main" val="20155211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523E6E-C03C-F141-6FCC-E981288AD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5F938-6ECC-4544-1837-1C08ADBF3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49" y="958396"/>
            <a:ext cx="2744542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457200"/>
            <a:r>
              <a:rPr lang="en-US" sz="3600">
                <a:ea typeface="+mj-ea"/>
              </a:rPr>
              <a:t>Additional Important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FF9E3-EBD4-3D8E-20B7-75D24F800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1493" y="958396"/>
            <a:ext cx="4888157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1000"/>
              </a:spcAft>
              <a:buFont typeface="Arial"/>
              <a:buChar char="•"/>
            </a:pPr>
            <a:r>
              <a:rPr lang="en-US" b="1">
                <a:ea typeface="+mn-ea"/>
              </a:rPr>
              <a:t>Foremost </a:t>
            </a:r>
          </a:p>
          <a:p>
            <a:pPr lvl="1" defTabSz="457200"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>
                <a:ea typeface="+mn-ea"/>
              </a:rPr>
              <a:t>Forensic tool</a:t>
            </a:r>
          </a:p>
          <a:p>
            <a:pPr lvl="1" defTabSz="457200"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>
                <a:ea typeface="+mn-ea"/>
              </a:rPr>
              <a:t>Can extract various data files from an image (or process)</a:t>
            </a:r>
          </a:p>
          <a:p>
            <a:pPr lvl="2" defTabSz="457200">
              <a:spcAft>
                <a:spcPts val="1000"/>
              </a:spcAft>
              <a:buClr>
                <a:schemeClr val="tx1"/>
              </a:buClr>
            </a:pPr>
            <a:r>
              <a:rPr lang="en-US">
                <a:ea typeface="+mn-ea"/>
              </a:rPr>
              <a:t>Images, executables, documents,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02B1D-74E1-AA6D-28BA-43519F29C1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216275" y="4892145"/>
            <a:ext cx="413375" cy="3148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B35A545-624B-40D2-AFF6-9618F12C24F0}" type="slidenum"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  <a:defRPr/>
              </a:pPr>
              <a:t>50</a:t>
            </a:fld>
            <a:endParaRPr lang="en-US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27CCC-3888-FC5F-D3F4-CFE6908ED8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4350" y="4892145"/>
            <a:ext cx="5551715" cy="314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| PV204 In-Memory Malware Analysis</a:t>
            </a:r>
          </a:p>
        </p:txBody>
      </p:sp>
    </p:spTree>
    <p:extLst>
      <p:ext uri="{BB962C8B-B14F-4D97-AF65-F5344CB8AC3E}">
        <p14:creationId xmlns:p14="http://schemas.microsoft.com/office/powerpoint/2010/main" val="35295440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49" y="958396"/>
            <a:ext cx="2744542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457200"/>
            <a:r>
              <a:rPr lang="en-US" sz="3600">
                <a:ea typeface="+mj-ea"/>
              </a:rPr>
              <a:t>Forensic analysis of RAM?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493" y="958396"/>
            <a:ext cx="4888157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700">
                <a:ea typeface="+mn-ea"/>
              </a:rPr>
              <a:t>Are there any benefits?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700">
                <a:ea typeface="+mn-ea"/>
              </a:rPr>
              <a:t>Collecting forensic evidence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700">
                <a:ea typeface="+mn-ea"/>
              </a:rPr>
              <a:t>Executable images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700">
                <a:ea typeface="+mn-ea"/>
              </a:rPr>
              <a:t>PDF/Doc documents</a:t>
            </a:r>
          </a:p>
          <a:p>
            <a:pPr lvl="2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</a:pPr>
            <a:r>
              <a:rPr lang="en-US" sz="1700">
                <a:ea typeface="+mn-ea"/>
              </a:rPr>
              <a:t>Possible origin of the infection?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700">
                <a:ea typeface="+mn-ea"/>
              </a:rPr>
              <a:t>Images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700">
                <a:ea typeface="+mn-ea"/>
              </a:rPr>
              <a:t>URLs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700">
                <a:ea typeface="+mn-ea"/>
              </a:rPr>
              <a:t>Getting approximate timeline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700">
                <a:ea typeface="+mn-ea"/>
              </a:rPr>
              <a:t>Works better on servers (always online, higher uptime, way more RAM)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16275" y="4892145"/>
            <a:ext cx="413375" cy="3148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B35A545-624B-40D2-AFF6-9618F12C24F0}" type="slidenum"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  <a:defRPr/>
              </a:pPr>
              <a:t>51</a:t>
            </a:fld>
            <a:endParaRPr lang="en-US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892145"/>
            <a:ext cx="5551715" cy="314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| PV204 In-Memory Malware Analysis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457200"/>
            <a:r>
              <a:rPr lang="en-US" sz="3600" dirty="0">
                <a:ea typeface="+mj-ea"/>
              </a:rPr>
              <a:t>What to search for in Operating System?</a:t>
            </a:r>
          </a:p>
        </p:txBody>
      </p:sp>
      <p:graphicFrame>
        <p:nvGraphicFramePr>
          <p:cNvPr id="14" name="Content Placeholder 4">
            <a:extLst>
              <a:ext uri="{FF2B5EF4-FFF2-40B4-BE49-F238E27FC236}">
                <a16:creationId xmlns:a16="http://schemas.microsoft.com/office/drawing/2014/main" id="{116B607C-AE88-449A-000B-1655C03F9F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9356367"/>
              </p:ext>
            </p:extLst>
          </p:nvPr>
        </p:nvGraphicFramePr>
        <p:xfrm>
          <a:off x="514350" y="2005333"/>
          <a:ext cx="7598568" cy="28206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3F72F7E-A92E-4996-87A8-9530E00B3D3A}" type="slidenum"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  <a:defRPr/>
              </a:pPr>
              <a:t>52</a:t>
            </a:fld>
            <a:endParaRPr lang="en-US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14350" y="4892145"/>
            <a:ext cx="5870744" cy="314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PV204 In-Memory Malware Analysis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49" y="958396"/>
            <a:ext cx="2744542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457200"/>
            <a:r>
              <a:rPr lang="en-US" sz="3600">
                <a:ea typeface="+mj-ea"/>
              </a:rPr>
              <a:t>Known Bad Mutexes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493" y="958396"/>
            <a:ext cx="4888157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1000"/>
              </a:spcAft>
              <a:buFont typeface="Arial"/>
              <a:buChar char="•"/>
            </a:pPr>
            <a:r>
              <a:rPr lang="en-US" i="1" dirty="0" err="1">
                <a:ea typeface="+mn-ea"/>
              </a:rPr>
              <a:t>Conficker</a:t>
            </a:r>
            <a:r>
              <a:rPr lang="en-US" dirty="0">
                <a:ea typeface="+mn-ea"/>
              </a:rPr>
              <a:t>: .*-7 and .*-99</a:t>
            </a:r>
          </a:p>
          <a:p>
            <a:pPr defTabSz="457200">
              <a:spcAft>
                <a:spcPts val="1000"/>
              </a:spcAft>
              <a:buFont typeface="Arial"/>
              <a:buChar char="•"/>
            </a:pPr>
            <a:r>
              <a:rPr lang="en-US" i="1" dirty="0" err="1">
                <a:ea typeface="+mn-ea"/>
              </a:rPr>
              <a:t>Sality.AA</a:t>
            </a:r>
            <a:r>
              <a:rPr lang="en-US" dirty="0">
                <a:ea typeface="+mn-ea"/>
              </a:rPr>
              <a:t>: Op1mutx9</a:t>
            </a:r>
          </a:p>
          <a:p>
            <a:pPr defTabSz="457200">
              <a:spcAft>
                <a:spcPts val="1000"/>
              </a:spcAft>
              <a:buFont typeface="Arial"/>
              <a:buChar char="•"/>
            </a:pPr>
            <a:r>
              <a:rPr lang="en-US" i="1" dirty="0" err="1">
                <a:ea typeface="+mn-ea"/>
              </a:rPr>
              <a:t>Flystud</a:t>
            </a:r>
            <a:r>
              <a:rPr lang="en-US" i="1" dirty="0">
                <a:ea typeface="+mn-ea"/>
              </a:rPr>
              <a:t>.??</a:t>
            </a:r>
            <a:r>
              <a:rPr lang="en-US" dirty="0">
                <a:ea typeface="+mn-ea"/>
              </a:rPr>
              <a:t>: </a:t>
            </a:r>
            <a:r>
              <a:rPr lang="en-US" dirty="0" err="1">
                <a:ea typeface="+mn-ea"/>
              </a:rPr>
              <a:t>Hacker.com.cn_MUTEX</a:t>
            </a:r>
            <a:endParaRPr lang="en-US" dirty="0">
              <a:ea typeface="+mn-ea"/>
            </a:endParaRPr>
          </a:p>
          <a:p>
            <a:pPr defTabSz="457200">
              <a:spcAft>
                <a:spcPts val="1000"/>
              </a:spcAft>
              <a:buFont typeface="Arial"/>
              <a:buChar char="•"/>
            </a:pPr>
            <a:r>
              <a:rPr lang="en-US" i="1" dirty="0" err="1">
                <a:ea typeface="+mn-ea"/>
              </a:rPr>
              <a:t>NetSky</a:t>
            </a:r>
            <a:r>
              <a:rPr lang="en-US" dirty="0">
                <a:ea typeface="+mn-ea"/>
              </a:rPr>
              <a:t>: '</a:t>
            </a:r>
            <a:r>
              <a:rPr lang="en-US" dirty="0" err="1">
                <a:ea typeface="+mn-ea"/>
              </a:rPr>
              <a:t>D'r'o'p'p'e'd'S'k'y'N'e't</a:t>
            </a:r>
            <a:r>
              <a:rPr lang="en-US" dirty="0">
                <a:ea typeface="+mn-ea"/>
              </a:rPr>
              <a:t>'</a:t>
            </a:r>
          </a:p>
          <a:p>
            <a:pPr defTabSz="457200">
              <a:spcAft>
                <a:spcPts val="1000"/>
              </a:spcAft>
              <a:buFont typeface="Arial"/>
              <a:buChar char="•"/>
            </a:pPr>
            <a:r>
              <a:rPr lang="en-US" i="1" dirty="0" err="1">
                <a:ea typeface="+mn-ea"/>
              </a:rPr>
              <a:t>Sality.W</a:t>
            </a:r>
            <a:r>
              <a:rPr lang="en-US" dirty="0">
                <a:ea typeface="+mn-ea"/>
              </a:rPr>
              <a:t>: u_joker_v3.06</a:t>
            </a:r>
          </a:p>
          <a:p>
            <a:pPr defTabSz="457200">
              <a:spcAft>
                <a:spcPts val="1000"/>
              </a:spcAft>
              <a:buFont typeface="Arial"/>
              <a:buChar char="•"/>
            </a:pPr>
            <a:r>
              <a:rPr lang="en-US" i="1" dirty="0">
                <a:ea typeface="+mn-ea"/>
              </a:rPr>
              <a:t>Poison Ivy</a:t>
            </a:r>
            <a:r>
              <a:rPr lang="en-US" dirty="0">
                <a:ea typeface="+mn-ea"/>
              </a:rPr>
              <a:t>: )!VoqA.I4 (and 10 thousand others)</a:t>
            </a:r>
          </a:p>
          <a:p>
            <a:pPr defTabSz="457200">
              <a:spcAft>
                <a:spcPts val="1000"/>
              </a:spcAft>
              <a:buFont typeface="Arial"/>
              <a:buChar char="•"/>
            </a:pPr>
            <a:r>
              <a:rPr lang="en-US" i="1" dirty="0">
                <a:ea typeface="+mn-ea"/>
              </a:rPr>
              <a:t>Koobface</a:t>
            </a:r>
            <a:r>
              <a:rPr lang="en-US" dirty="0">
                <a:ea typeface="+mn-ea"/>
              </a:rPr>
              <a:t>: 35fsdfsdfgfd5339</a:t>
            </a:r>
          </a:p>
          <a:p>
            <a:pPr defTabSz="457200">
              <a:spcAft>
                <a:spcPts val="1000"/>
              </a:spcAft>
              <a:buFont typeface="Arial"/>
              <a:buChar char="•"/>
            </a:pPr>
            <a:endParaRPr lang="en-US" dirty="0">
              <a:ea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16275" y="4892145"/>
            <a:ext cx="413375" cy="3148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B35A545-624B-40D2-AFF6-9618F12C24F0}" type="slidenum"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  <a:defRPr/>
              </a:pPr>
              <a:t>53</a:t>
            </a:fld>
            <a:endParaRPr lang="en-US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892145"/>
            <a:ext cx="5551715" cy="314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| PV204 In-Memory Malware Analysis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Known Good Processes/Locations 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5582895"/>
              </p:ext>
            </p:extLst>
          </p:nvPr>
        </p:nvGraphicFramePr>
        <p:xfrm>
          <a:off x="1331640" y="1417340"/>
          <a:ext cx="6707725" cy="3840426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768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9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0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700">
                          <a:effectLst/>
                        </a:rPr>
                        <a:t>Process Name</a:t>
                      </a:r>
                      <a:endParaRPr lang="en-US" sz="1700" dirty="0">
                        <a:effectLst/>
                        <a:latin typeface="Palatino Linotype" panose="0204050205050503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700">
                          <a:effectLst/>
                        </a:rPr>
                        <a:t>Expected Path</a:t>
                      </a:r>
                      <a:endParaRPr lang="en-US" sz="1700" dirty="0">
                        <a:effectLst/>
                        <a:latin typeface="Palatino Linotype" panose="0204050205050503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0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7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lsass.exe</a:t>
                      </a:r>
                      <a:endParaRPr lang="en-US" sz="1700" b="1" dirty="0">
                        <a:effectLst/>
                        <a:latin typeface="Consolas" panose="020B0609020204030204" pitchFamily="49" charset="0"/>
                        <a:ea typeface="Times New Roman" panose="02020603050405020304" pitchFamily="18" charset="0"/>
                        <a:cs typeface="Consolas" panose="020B0609020204030204" pitchFamily="49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7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\windows\system32</a:t>
                      </a:r>
                      <a:endParaRPr lang="en-US" sz="1700" dirty="0">
                        <a:effectLst/>
                        <a:latin typeface="Consolas" panose="020B0609020204030204" pitchFamily="49" charset="0"/>
                        <a:ea typeface="Times New Roman" panose="02020603050405020304" pitchFamily="18" charset="0"/>
                        <a:cs typeface="Consolas" panose="020B0609020204030204" pitchFamily="49" charset="0"/>
                      </a:endParaRPr>
                    </a:p>
                  </a:txBody>
                  <a:tcPr marL="57150" marR="5715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0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7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services.exe</a:t>
                      </a:r>
                      <a:endParaRPr lang="en-US" sz="1700" b="1" dirty="0">
                        <a:effectLst/>
                        <a:latin typeface="Consolas" panose="020B0609020204030204" pitchFamily="49" charset="0"/>
                        <a:ea typeface="Times New Roman" panose="02020603050405020304" pitchFamily="18" charset="0"/>
                        <a:cs typeface="Consolas" panose="020B0609020204030204" pitchFamily="49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7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\windows\system32</a:t>
                      </a:r>
                      <a:endParaRPr lang="en-US" sz="1700" dirty="0">
                        <a:effectLst/>
                        <a:latin typeface="Consolas" panose="020B0609020204030204" pitchFamily="49" charset="0"/>
                        <a:ea typeface="Times New Roman" panose="02020603050405020304" pitchFamily="18" charset="0"/>
                        <a:cs typeface="Consolas" panose="020B0609020204030204" pitchFamily="49" charset="0"/>
                      </a:endParaRPr>
                    </a:p>
                  </a:txBody>
                  <a:tcPr marL="57150" marR="5715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0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7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csrss.exe</a:t>
                      </a:r>
                      <a:endParaRPr lang="en-US" sz="1700" b="1" dirty="0">
                        <a:effectLst/>
                        <a:latin typeface="Consolas" panose="020B0609020204030204" pitchFamily="49" charset="0"/>
                        <a:ea typeface="Times New Roman" panose="02020603050405020304" pitchFamily="18" charset="0"/>
                        <a:cs typeface="Consolas" panose="020B0609020204030204" pitchFamily="49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7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\windows\system32</a:t>
                      </a:r>
                      <a:endParaRPr lang="en-US" sz="1700" dirty="0">
                        <a:effectLst/>
                        <a:latin typeface="Consolas" panose="020B0609020204030204" pitchFamily="49" charset="0"/>
                        <a:ea typeface="Times New Roman" panose="02020603050405020304" pitchFamily="18" charset="0"/>
                        <a:cs typeface="Consolas" panose="020B0609020204030204" pitchFamily="49" charset="0"/>
                      </a:endParaRPr>
                    </a:p>
                  </a:txBody>
                  <a:tcPr marL="57150" marR="5715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0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7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explorer.exe</a:t>
                      </a:r>
                      <a:endParaRPr lang="en-US" sz="1700" b="1" dirty="0">
                        <a:effectLst/>
                        <a:latin typeface="Consolas" panose="020B0609020204030204" pitchFamily="49" charset="0"/>
                        <a:ea typeface="Times New Roman" panose="02020603050405020304" pitchFamily="18" charset="0"/>
                        <a:cs typeface="Consolas" panose="020B0609020204030204" pitchFamily="49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7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\windows</a:t>
                      </a:r>
                      <a:endParaRPr lang="en-US" sz="1700" dirty="0">
                        <a:effectLst/>
                        <a:latin typeface="Consolas" panose="020B0609020204030204" pitchFamily="49" charset="0"/>
                        <a:ea typeface="Times New Roman" panose="02020603050405020304" pitchFamily="18" charset="0"/>
                        <a:cs typeface="Consolas" panose="020B0609020204030204" pitchFamily="49" charset="0"/>
                      </a:endParaRPr>
                    </a:p>
                  </a:txBody>
                  <a:tcPr marL="57150" marR="5715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0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7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spoolsv.exe</a:t>
                      </a:r>
                      <a:endParaRPr lang="en-US" sz="1700" b="1" dirty="0">
                        <a:effectLst/>
                        <a:latin typeface="Consolas" panose="020B0609020204030204" pitchFamily="49" charset="0"/>
                        <a:ea typeface="Times New Roman" panose="02020603050405020304" pitchFamily="18" charset="0"/>
                        <a:cs typeface="Consolas" panose="020B0609020204030204" pitchFamily="49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7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\windows\system32</a:t>
                      </a:r>
                      <a:endParaRPr lang="en-US" sz="1700" dirty="0">
                        <a:effectLst/>
                        <a:latin typeface="Consolas" panose="020B0609020204030204" pitchFamily="49" charset="0"/>
                        <a:ea typeface="Times New Roman" panose="02020603050405020304" pitchFamily="18" charset="0"/>
                        <a:cs typeface="Consolas" panose="020B0609020204030204" pitchFamily="49" charset="0"/>
                      </a:endParaRPr>
                    </a:p>
                  </a:txBody>
                  <a:tcPr marL="57150" marR="5715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0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7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smss.exe</a:t>
                      </a:r>
                      <a:endParaRPr lang="en-US" sz="1700" b="1" dirty="0">
                        <a:effectLst/>
                        <a:latin typeface="Consolas" panose="020B0609020204030204" pitchFamily="49" charset="0"/>
                        <a:ea typeface="Times New Roman" panose="02020603050405020304" pitchFamily="18" charset="0"/>
                        <a:cs typeface="Consolas" panose="020B0609020204030204" pitchFamily="49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7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\windows\system32</a:t>
                      </a:r>
                      <a:endParaRPr lang="en-US" sz="1700" dirty="0">
                        <a:effectLst/>
                        <a:latin typeface="Consolas" panose="020B0609020204030204" pitchFamily="49" charset="0"/>
                        <a:ea typeface="Times New Roman" panose="02020603050405020304" pitchFamily="18" charset="0"/>
                        <a:cs typeface="Consolas" panose="020B0609020204030204" pitchFamily="49" charset="0"/>
                      </a:endParaRPr>
                    </a:p>
                  </a:txBody>
                  <a:tcPr marL="57150" marR="5715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0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7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svchost.exe</a:t>
                      </a:r>
                      <a:endParaRPr lang="en-US" sz="1700" b="1" dirty="0">
                        <a:effectLst/>
                        <a:latin typeface="Consolas" panose="020B0609020204030204" pitchFamily="49" charset="0"/>
                        <a:ea typeface="Times New Roman" panose="02020603050405020304" pitchFamily="18" charset="0"/>
                        <a:cs typeface="Consolas" panose="020B0609020204030204" pitchFamily="49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7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\windows\system32</a:t>
                      </a:r>
                      <a:endParaRPr lang="en-US" sz="1700" dirty="0">
                        <a:effectLst/>
                        <a:latin typeface="Consolas" panose="020B0609020204030204" pitchFamily="49" charset="0"/>
                        <a:ea typeface="Times New Roman" panose="02020603050405020304" pitchFamily="18" charset="0"/>
                        <a:cs typeface="Consolas" panose="020B0609020204030204" pitchFamily="49" charset="0"/>
                      </a:endParaRPr>
                    </a:p>
                  </a:txBody>
                  <a:tcPr marL="57150" marR="5715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174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7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iexplore.exe</a:t>
                      </a:r>
                      <a:endParaRPr lang="en-US" sz="1700" b="1" dirty="0">
                        <a:effectLst/>
                        <a:latin typeface="Consolas" panose="020B0609020204030204" pitchFamily="49" charset="0"/>
                        <a:ea typeface="Times New Roman" panose="02020603050405020304" pitchFamily="18" charset="0"/>
                        <a:cs typeface="Consolas" panose="020B0609020204030204" pitchFamily="49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7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\program files</a:t>
                      </a:r>
                      <a:br>
                        <a:rPr lang="en-US" sz="17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7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\program files (x86)</a:t>
                      </a:r>
                      <a:endParaRPr lang="en-US" sz="1700" dirty="0">
                        <a:effectLst/>
                        <a:latin typeface="Consolas" panose="020B0609020204030204" pitchFamily="49" charset="0"/>
                        <a:ea typeface="Times New Roman" panose="02020603050405020304" pitchFamily="18" charset="0"/>
                        <a:cs typeface="Consolas" panose="020B0609020204030204" pitchFamily="49" charset="0"/>
                      </a:endParaRPr>
                    </a:p>
                  </a:txBody>
                  <a:tcPr marL="57150" marR="5715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0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7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winlogon.exe</a:t>
                      </a:r>
                      <a:endParaRPr lang="en-US" sz="1700" b="1" dirty="0">
                        <a:effectLst/>
                        <a:latin typeface="Consolas" panose="020B0609020204030204" pitchFamily="49" charset="0"/>
                        <a:ea typeface="Times New Roman" panose="02020603050405020304" pitchFamily="18" charset="0"/>
                        <a:cs typeface="Consolas" panose="020B0609020204030204" pitchFamily="49" charset="0"/>
                      </a:endParaRPr>
                    </a:p>
                  </a:txBody>
                  <a:tcPr marL="57150" marR="5715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7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\windows\system32</a:t>
                      </a:r>
                      <a:endParaRPr lang="en-US" sz="1700" dirty="0">
                        <a:effectLst/>
                        <a:latin typeface="Consolas" panose="020B0609020204030204" pitchFamily="49" charset="0"/>
                        <a:ea typeface="Times New Roman" panose="02020603050405020304" pitchFamily="18" charset="0"/>
                        <a:cs typeface="Consolas" panose="020B0609020204030204" pitchFamily="49" charset="0"/>
                      </a:endParaRPr>
                    </a:p>
                  </a:txBody>
                  <a:tcPr marL="57150" marR="5715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| PV204 In-Memory Malware Analysis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02865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17F7527-5AC0-479A-B79F-9CF463410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5713511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715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99AAB-34ED-1534-E3C8-1A6656A3E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49" y="958396"/>
            <a:ext cx="2744542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457200"/>
            <a:r>
              <a:rPr lang="en-US" sz="3600" dirty="0"/>
              <a:t>Memory tracing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00192" y="1390650"/>
            <a:ext cx="0" cy="29337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5C40C-9D79-276D-A60E-4F351E21C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1493" y="958396"/>
            <a:ext cx="4888157" cy="3798208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dirty="0">
                <a:ea typeface="+mn-ea"/>
              </a:rPr>
              <a:t>Single process memory focus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dirty="0">
                <a:ea typeface="+mn-ea"/>
              </a:rPr>
              <a:t>Combined emulation &amp; instrumentation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dirty="0">
                <a:ea typeface="+mn-ea"/>
              </a:rPr>
              <a:t>Better tracking of memory changes (code, data)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dirty="0">
                <a:ea typeface="+mn-ea"/>
              </a:rPr>
              <a:t>Detailed execution tracing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dirty="0">
                <a:ea typeface="+mn-ea"/>
              </a:rPr>
              <a:t>Usually with API</a:t>
            </a: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dirty="0">
                <a:ea typeface="+mn-ea"/>
              </a:rPr>
              <a:t>Open-source tools available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dirty="0">
                <a:ea typeface="+mn-ea"/>
              </a:rPr>
              <a:t>Intel PIN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dirty="0">
                <a:ea typeface="+mn-ea"/>
                <a:hlinkClick r:id="rId5"/>
              </a:rPr>
              <a:t>Frida</a:t>
            </a:r>
            <a:endParaRPr lang="en-US" dirty="0">
              <a:ea typeface="+mn-ea"/>
            </a:endParaRP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dirty="0">
                <a:ea typeface="+mn-ea"/>
                <a:hlinkClick r:id="rId6"/>
              </a:rPr>
              <a:t>DynamoRIO</a:t>
            </a:r>
            <a:endParaRPr lang="en-US" dirty="0">
              <a:ea typeface="+mn-ea"/>
            </a:endParaRP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dirty="0">
                <a:ea typeface="+mn-ea"/>
                <a:hlinkClick r:id="rId7"/>
              </a:rPr>
              <a:t>Qiling</a:t>
            </a:r>
            <a:endParaRPr lang="en-US" dirty="0">
              <a:ea typeface="+mn-ea"/>
            </a:endParaRP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endParaRPr lang="en-US" dirty="0">
              <a:ea typeface="+mn-ea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02BB5-E0C3-2833-DBC7-D63C5D47A0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4350" y="4892145"/>
            <a:ext cx="5551715" cy="3148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| PV204 In-Memory Malware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EA8FE-23E0-F953-180C-B885336C3C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216275" y="4892145"/>
            <a:ext cx="413375" cy="3148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B35A545-624B-40D2-AFF6-9618F12C24F0}" type="slidenum"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  <a:defRPr/>
              </a:pPr>
              <a:t>55</a:t>
            </a:fld>
            <a:endParaRPr lang="en-US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70156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Operational Security for Airports | TAV Technologies">
            <a:extLst>
              <a:ext uri="{FF2B5EF4-FFF2-40B4-BE49-F238E27FC236}">
                <a16:creationId xmlns:a16="http://schemas.microsoft.com/office/drawing/2014/main" id="{ECB14F74-C02C-09AB-12C1-B7F7239AF1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35" r="25664"/>
          <a:stretch/>
        </p:blipFill>
        <p:spPr bwMode="auto">
          <a:xfrm>
            <a:off x="0" y="0"/>
            <a:ext cx="9144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8A15C2E-96DD-6596-285C-DB8DD422D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Operational security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AE4E31-A3C5-8BAE-82C8-E82F8A6FB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Staying safe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54EC6-C801-B053-9137-A8B5EDF5D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PV204 In-Memory Malware Analysis</a:t>
            </a:r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E0DC5-99FF-A9E5-CB8A-0F4B14FB6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35A545-624B-40D2-AFF6-9618F12C24F0}" type="slidenum">
              <a:rPr lang="cs-CZ" smtClean="0"/>
              <a:pPr>
                <a:defRPr/>
              </a:pPr>
              <a:t>56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833083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Operational Security (OpSec)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Basics of OpSec</a:t>
            </a:r>
          </a:p>
          <a:p>
            <a:pPr lvl="1"/>
            <a:r>
              <a:rPr lang="en-US"/>
              <a:t>“Think before you act” mentality</a:t>
            </a:r>
          </a:p>
          <a:p>
            <a:pPr lvl="1"/>
            <a:r>
              <a:rPr lang="en-US"/>
              <a:t>Limited information sharing</a:t>
            </a:r>
          </a:p>
          <a:p>
            <a:r>
              <a:rPr lang="en-US"/>
              <a:t>Specifics of memory analysis</a:t>
            </a:r>
          </a:p>
          <a:p>
            <a:pPr lvl="1"/>
            <a:r>
              <a:rPr lang="en-US"/>
              <a:t>You can often upload acquired executables to VirusTotal</a:t>
            </a:r>
          </a:p>
          <a:p>
            <a:pPr lvl="2"/>
            <a:r>
              <a:rPr lang="en-US"/>
              <a:t>MD5/SHA1 of the dump is different from the executable</a:t>
            </a:r>
          </a:p>
          <a:p>
            <a:pPr lvl="2"/>
            <a:r>
              <a:rPr lang="en-US"/>
              <a:t>This doesn’t apply for documents/HTML pages!</a:t>
            </a:r>
          </a:p>
          <a:p>
            <a:pPr lvl="1"/>
            <a:r>
              <a:rPr lang="en-US" b="1"/>
              <a:t>However, incomplete binaries still can infect your system!</a:t>
            </a:r>
          </a:p>
          <a:p>
            <a:pPr lvl="2"/>
            <a:r>
              <a:rPr lang="en-US"/>
              <a:t>Running in VM or other OS is recommended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5A545-624B-40D2-AFF6-9618F12C24F0}" type="slidenum">
              <a:rPr lang="cs-CZ" smtClean="0"/>
              <a:pPr>
                <a:defRPr/>
              </a:pPr>
              <a:t>57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| PV204 In-Memory Malware Analysis</a:t>
            </a:r>
            <a:endParaRPr lang="cs-CZ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Recommended Analysis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/>
              <a:t>Use Internet! </a:t>
            </a:r>
            <a:r>
              <a:rPr lang="en-US" sz="1667"/>
              <a:t>(Google, VirusTotal, …)</a:t>
            </a:r>
            <a:endParaRPr lang="en-US"/>
          </a:p>
          <a:p>
            <a:r>
              <a:rPr lang="en-US" b="1"/>
              <a:t>Make notes!</a:t>
            </a:r>
          </a:p>
          <a:p>
            <a:pPr lvl="1"/>
            <a:r>
              <a:rPr lang="en-US"/>
              <a:t>What OS is being analyzed? (imageinfo)</a:t>
            </a:r>
          </a:p>
          <a:p>
            <a:pPr lvl="1"/>
            <a:r>
              <a:rPr lang="en-US"/>
              <a:t>Network connections? (+ whois records, …)</a:t>
            </a:r>
          </a:p>
          <a:p>
            <a:pPr lvl="1"/>
            <a:r>
              <a:rPr lang="en-US"/>
              <a:t>Processes (hidden, odd, non-standard; timestamps, …)</a:t>
            </a:r>
          </a:p>
          <a:p>
            <a:pPr lvl="1"/>
            <a:r>
              <a:rPr lang="en-US"/>
              <a:t>Mutexes (+ files open)</a:t>
            </a:r>
          </a:p>
          <a:p>
            <a:pPr lvl="1"/>
            <a:r>
              <a:rPr lang="en-US"/>
              <a:t>Dump processes when needed (OpSec!)</a:t>
            </a:r>
          </a:p>
          <a:p>
            <a:pPr lvl="1"/>
            <a:r>
              <a:rPr lang="en-US"/>
              <a:t>Strings (URIs, C-like strings %s %d, domains, …)</a:t>
            </a:r>
          </a:p>
          <a:p>
            <a:r>
              <a:rPr lang="en-US" b="1"/>
              <a:t>Summarize your findings in final report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5A545-624B-40D2-AFF6-9618F12C24F0}" type="slidenum">
              <a:rPr lang="cs-CZ" smtClean="0"/>
              <a:pPr>
                <a:defRPr/>
              </a:pPr>
              <a:t>58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| PV204 In-Memory Malware Analysis</a:t>
            </a:r>
            <a:endParaRPr lang="cs-CZ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49" y="958396"/>
            <a:ext cx="2744542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457200"/>
            <a:r>
              <a:rPr lang="en-US" sz="2800" dirty="0">
                <a:ea typeface="+mj-ea"/>
              </a:rPr>
              <a:t>More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493" y="958396"/>
            <a:ext cx="4888157" cy="37982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700">
                <a:ea typeface="+mn-ea"/>
              </a:rPr>
              <a:t>Web pages of this course</a:t>
            </a:r>
            <a:endParaRPr lang="en-US" sz="1700" b="1">
              <a:ea typeface="+mn-ea"/>
            </a:endParaRP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700" b="1">
                <a:ea typeface="+mn-ea"/>
                <a:hlinkClick r:id="rId3"/>
              </a:rPr>
              <a:t>https://dior.ics.muni.cz/~valor/pv204</a:t>
            </a:r>
            <a:endParaRPr lang="en-US" sz="1700" b="1">
              <a:ea typeface="+mn-ea"/>
            </a:endParaRPr>
          </a:p>
          <a:p>
            <a:pPr defTabSz="457200">
              <a:lnSpc>
                <a:spcPct val="90000"/>
              </a:lnSpc>
              <a:spcAft>
                <a:spcPts val="1000"/>
              </a:spcAft>
              <a:buFont typeface="Arial"/>
              <a:buChar char="•"/>
            </a:pPr>
            <a:r>
              <a:rPr lang="en-US" sz="1700" b="1">
                <a:ea typeface="+mn-ea"/>
              </a:rPr>
              <a:t>Additional resources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700">
                <a:ea typeface="+mn-ea"/>
                <a:hlinkClick r:id="rId4"/>
              </a:rPr>
              <a:t>Public memory images</a:t>
            </a:r>
            <a:r>
              <a:rPr lang="en-US" sz="1700">
                <a:ea typeface="+mn-ea"/>
              </a:rPr>
              <a:t> for analysis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700">
                <a:ea typeface="+mn-ea"/>
                <a:hlinkClick r:id="rId5"/>
              </a:rPr>
              <a:t>Reverse Engineering for Beginners</a:t>
            </a:r>
            <a:r>
              <a:rPr lang="en-US" sz="1700">
                <a:ea typeface="+mn-ea"/>
              </a:rPr>
              <a:t> (amazing PDF doc)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700">
                <a:ea typeface="+mn-ea"/>
                <a:hlinkClick r:id="rId6"/>
              </a:rPr>
              <a:t>REMnux</a:t>
            </a:r>
            <a:r>
              <a:rPr lang="en-US" sz="1700">
                <a:ea typeface="+mn-ea"/>
              </a:rPr>
              <a:t>: All you need to start with RE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700">
                <a:ea typeface="+mn-ea"/>
                <a:hlinkClick r:id="rId7"/>
              </a:rPr>
              <a:t>ContagioDump </a:t>
            </a:r>
            <a:r>
              <a:rPr lang="en-US" sz="1700">
                <a:ea typeface="+mn-ea"/>
              </a:rPr>
              <a:t>blog (for additional malware samples)</a:t>
            </a:r>
          </a:p>
          <a:p>
            <a:pPr lvl="1" defTabSz="4572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n-US" sz="1700">
                <a:ea typeface="+mn-ea"/>
                <a:hlinkClick r:id="rId8"/>
              </a:rPr>
              <a:t>Malware Traffic Analysis</a:t>
            </a:r>
            <a:r>
              <a:rPr lang="en-US" sz="1700">
                <a:ea typeface="+mn-ea"/>
              </a:rPr>
              <a:t> (both traffic &amp; samples)</a:t>
            </a:r>
            <a:endParaRPr lang="en-US" sz="1700" b="1">
              <a:ea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16275" y="4892145"/>
            <a:ext cx="413375" cy="3148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B35A545-624B-40D2-AFF6-9618F12C24F0}" type="slidenum"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  <a:defRPr/>
              </a:pPr>
              <a:t>59</a:t>
            </a:fld>
            <a:endParaRPr lang="en-US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892145"/>
            <a:ext cx="5551715" cy="314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| PV204 In-Memory Malware Analysis</a:t>
            </a:r>
          </a:p>
        </p:txBody>
      </p:sp>
    </p:spTree>
    <p:extLst>
      <p:ext uri="{BB962C8B-B14F-4D97-AF65-F5344CB8AC3E}">
        <p14:creationId xmlns:p14="http://schemas.microsoft.com/office/powerpoint/2010/main" val="8992524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Questions about coordination of benefits? CDA Practice Support has answers  - CDA">
            <a:extLst>
              <a:ext uri="{FF2B5EF4-FFF2-40B4-BE49-F238E27FC236}">
                <a16:creationId xmlns:a16="http://schemas.microsoft.com/office/drawing/2014/main" id="{83C251B6-1C05-8B4C-A8B4-9ED718BFC0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20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52" r="6881"/>
          <a:stretch/>
        </p:blipFill>
        <p:spPr bwMode="auto">
          <a:xfrm>
            <a:off x="-1" y="11324"/>
            <a:ext cx="9144001" cy="5703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Answers &amp; Questions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your attention.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| PV204 In-Memory Malware Analysis</a:t>
            </a:r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35A545-624B-40D2-AFF6-9618F12C24F0}" type="slidenum">
              <a:rPr lang="cs-CZ" smtClean="0"/>
              <a:pPr>
                <a:defRPr/>
              </a:pPr>
              <a:t>60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1321382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Lab</a:t>
            </a:r>
            <a:endParaRPr lang="en-GB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| PV204 In-Memory Malware</a:t>
            </a:r>
            <a:r>
              <a:rPr lang="cs-CZ" dirty="0"/>
              <a:t> Analysis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85801-738D-4AFC-9D72-B567D521F73E}" type="slidenum">
              <a:rPr lang="cs-CZ" smtClean="0"/>
              <a:pPr/>
              <a:t>61</a:t>
            </a:fld>
            <a:endParaRPr lang="cs-CZ" dirty="0"/>
          </a:p>
        </p:txBody>
      </p:sp>
      <p:pic>
        <p:nvPicPr>
          <p:cNvPr id="6" name="Picture 2" descr="D:\Documents\Obrázky\services_icon_full_bw5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466" y="1837387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37946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Requirements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Oracle VM VirtualBox</a:t>
            </a:r>
          </a:p>
          <a:p>
            <a:pPr lvl="1"/>
            <a:r>
              <a:rPr lang="en-US" dirty="0"/>
              <a:t>And enough space on your hard drive (12 GB at least)</a:t>
            </a:r>
          </a:p>
          <a:p>
            <a:r>
              <a:rPr lang="en-US" b="1" dirty="0"/>
              <a:t>Volatility Framework</a:t>
            </a:r>
          </a:p>
          <a:p>
            <a:pPr lvl="1"/>
            <a:r>
              <a:rPr lang="en-US" b="1" dirty="0"/>
              <a:t>Version 2 </a:t>
            </a:r>
            <a:r>
              <a:rPr lang="en-US" dirty="0"/>
              <a:t>(version 3 is available in the VM too)</a:t>
            </a:r>
            <a:endParaRPr lang="en-US" b="1" dirty="0"/>
          </a:p>
          <a:p>
            <a:r>
              <a:rPr lang="en-US" dirty="0"/>
              <a:t>Unix tools</a:t>
            </a:r>
          </a:p>
          <a:p>
            <a:pPr lvl="1"/>
            <a:r>
              <a:rPr lang="en-US" dirty="0">
                <a:latin typeface="Consolas" pitchFamily="49" charset="0"/>
                <a:cs typeface="Consolas" pitchFamily="49" charset="0"/>
              </a:rPr>
              <a:t>strings</a:t>
            </a:r>
            <a:r>
              <a:rPr lang="en-US" dirty="0"/>
              <a:t>,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foremost</a:t>
            </a:r>
          </a:p>
          <a:p>
            <a:r>
              <a:rPr lang="en-US" dirty="0">
                <a:cs typeface="Consolas" pitchFamily="49" charset="0"/>
              </a:rPr>
              <a:t>Your favorite text editor for notes</a:t>
            </a:r>
          </a:p>
          <a:p>
            <a:r>
              <a:rPr lang="en-US" dirty="0">
                <a:cs typeface="Consolas" pitchFamily="49" charset="0"/>
              </a:rPr>
              <a:t>Voluntary:</a:t>
            </a:r>
          </a:p>
          <a:p>
            <a:pPr lvl="1"/>
            <a:r>
              <a:rPr lang="en-US" dirty="0" err="1">
                <a:cs typeface="Consolas" pitchFamily="49" charset="0"/>
              </a:rPr>
              <a:t>Javascript</a:t>
            </a:r>
            <a:r>
              <a:rPr lang="en-US" dirty="0">
                <a:cs typeface="Consolas" pitchFamily="49" charset="0"/>
              </a:rPr>
              <a:t>/PDF analysis tools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F85801-738D-4AFC-9D72-B567D521F73E}" type="slidenum">
              <a:rPr lang="cs-CZ" smtClean="0"/>
              <a:pPr>
                <a:defRPr/>
              </a:pPr>
              <a:t>62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| PV204 In-Memory Malware Analysis</a:t>
            </a:r>
            <a:endParaRPr lang="cs-CZ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Analysis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Use Internet! </a:t>
            </a:r>
            <a:r>
              <a:rPr lang="en-US" sz="1667" dirty="0"/>
              <a:t>(Google, </a:t>
            </a:r>
            <a:r>
              <a:rPr lang="en-US" sz="1667" dirty="0" err="1"/>
              <a:t>VirusTotal</a:t>
            </a:r>
            <a:r>
              <a:rPr lang="en-US" sz="1667" dirty="0"/>
              <a:t>, …)</a:t>
            </a:r>
            <a:endParaRPr lang="en-US" dirty="0"/>
          </a:p>
          <a:p>
            <a:r>
              <a:rPr lang="en-US" b="1" dirty="0"/>
              <a:t>Make notes!</a:t>
            </a:r>
          </a:p>
          <a:p>
            <a:pPr lvl="1"/>
            <a:r>
              <a:rPr lang="en-US" dirty="0"/>
              <a:t>What OS is being analyzed?</a:t>
            </a:r>
          </a:p>
          <a:p>
            <a:pPr lvl="1"/>
            <a:r>
              <a:rPr lang="en-US" dirty="0"/>
              <a:t>Network connections? (+ </a:t>
            </a:r>
            <a:r>
              <a:rPr lang="en-US" dirty="0" err="1"/>
              <a:t>whois</a:t>
            </a:r>
            <a:r>
              <a:rPr lang="en-US" dirty="0"/>
              <a:t> records, …)</a:t>
            </a:r>
          </a:p>
          <a:p>
            <a:pPr lvl="1"/>
            <a:r>
              <a:rPr lang="en-US" dirty="0"/>
              <a:t>Processes (hidden, odd, non-standard; timestamps, …)</a:t>
            </a:r>
          </a:p>
          <a:p>
            <a:pPr lvl="1"/>
            <a:r>
              <a:rPr lang="en-US" dirty="0"/>
              <a:t>Mutexes (+ files open)</a:t>
            </a:r>
          </a:p>
          <a:p>
            <a:pPr lvl="1"/>
            <a:r>
              <a:rPr lang="en-US" dirty="0"/>
              <a:t>Strings (URIs, C-like strings %s %d, domains, …)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b="1" dirty="0"/>
              <a:t>Summarize your findings in final report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5A545-624B-40D2-AFF6-9618F12C24F0}" type="slidenum">
              <a:rPr lang="cs-CZ" smtClean="0"/>
              <a:pPr>
                <a:defRPr/>
              </a:pPr>
              <a:t>63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| PV204 In-Memory Malware Analysis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304487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Volatility2 Framework – cheat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4387" y="1559721"/>
            <a:ext cx="6858000" cy="3458104"/>
          </a:xfrm>
        </p:spPr>
        <p:txBody>
          <a:bodyPr>
            <a:normAutofit fontScale="55000" lnSpcReduction="20000"/>
          </a:bodyPr>
          <a:lstStyle/>
          <a:p>
            <a:r>
              <a:rPr lang="en-US" dirty="0" err="1">
                <a:latin typeface="Consolas" pitchFamily="49" charset="0"/>
                <a:cs typeface="Consolas" pitchFamily="49" charset="0"/>
              </a:rPr>
              <a:t>psxview</a:t>
            </a:r>
            <a:r>
              <a:rPr lang="en-US" dirty="0"/>
              <a:t> </a:t>
            </a:r>
            <a:r>
              <a:rPr lang="en-US" sz="1917" dirty="0"/>
              <a:t>(search for hidden processes)</a:t>
            </a:r>
            <a:endParaRPr lang="en-US" dirty="0"/>
          </a:p>
          <a:p>
            <a:r>
              <a:rPr lang="en-US" dirty="0" err="1">
                <a:latin typeface="Consolas" pitchFamily="49" charset="0"/>
                <a:cs typeface="Consolas" pitchFamily="49" charset="0"/>
              </a:rPr>
              <a:t>apihooks</a:t>
            </a:r>
            <a:endParaRPr lang="en-US" dirty="0">
              <a:latin typeface="Consolas" pitchFamily="49" charset="0"/>
              <a:cs typeface="Consolas" pitchFamily="49" charset="0"/>
            </a:endParaRPr>
          </a:p>
          <a:p>
            <a:r>
              <a:rPr lang="en-US" dirty="0" err="1">
                <a:latin typeface="Consolas" pitchFamily="49" charset="0"/>
                <a:cs typeface="Consolas" pitchFamily="49" charset="0"/>
              </a:rPr>
              <a:t>driverscan</a:t>
            </a:r>
            <a:endParaRPr lang="en-US" dirty="0">
              <a:latin typeface="Consolas" pitchFamily="49" charset="0"/>
              <a:cs typeface="Consolas" pitchFamily="49" charset="0"/>
            </a:endParaRPr>
          </a:p>
          <a:p>
            <a:r>
              <a:rPr lang="en-US" dirty="0" err="1">
                <a:latin typeface="Consolas" pitchFamily="49" charset="0"/>
                <a:cs typeface="Consolas" pitchFamily="49" charset="0"/>
              </a:rPr>
              <a:t>ssdt</a:t>
            </a:r>
            <a:r>
              <a:rPr lang="en-US" dirty="0"/>
              <a:t> / </a:t>
            </a:r>
            <a:r>
              <a:rPr lang="en-US" dirty="0" err="1">
                <a:latin typeface="Consolas" pitchFamily="49" charset="0"/>
                <a:cs typeface="Consolas" pitchFamily="49" charset="0"/>
              </a:rPr>
              <a:t>driverirp</a:t>
            </a:r>
            <a:r>
              <a:rPr lang="en-US" dirty="0"/>
              <a:t> / </a:t>
            </a:r>
            <a:r>
              <a:rPr lang="en-US" dirty="0" err="1">
                <a:latin typeface="Consolas" pitchFamily="49" charset="0"/>
                <a:cs typeface="Consolas" pitchFamily="49" charset="0"/>
              </a:rPr>
              <a:t>idt</a:t>
            </a:r>
            <a:endParaRPr lang="en-US" dirty="0">
              <a:latin typeface="Consolas" pitchFamily="49" charset="0"/>
              <a:cs typeface="Consolas" pitchFamily="49" charset="0"/>
            </a:endParaRPr>
          </a:p>
          <a:p>
            <a:r>
              <a:rPr lang="en-US" dirty="0">
                <a:latin typeface="Consolas" pitchFamily="49" charset="0"/>
                <a:cs typeface="Consolas" pitchFamily="49" charset="0"/>
              </a:rPr>
              <a:t>connections</a:t>
            </a:r>
            <a:r>
              <a:rPr lang="en-US" dirty="0"/>
              <a:t> / </a:t>
            </a:r>
            <a:r>
              <a:rPr lang="en-US" dirty="0" err="1">
                <a:latin typeface="Consolas" pitchFamily="49" charset="0"/>
                <a:cs typeface="Consolas" pitchFamily="49" charset="0"/>
              </a:rPr>
              <a:t>connscan</a:t>
            </a:r>
            <a:r>
              <a:rPr lang="en-US" dirty="0"/>
              <a:t> </a:t>
            </a:r>
            <a:r>
              <a:rPr lang="en-US" sz="1917" dirty="0"/>
              <a:t>(</a:t>
            </a:r>
            <a:r>
              <a:rPr lang="en-US" sz="1917" dirty="0" err="1"/>
              <a:t>WinXP</a:t>
            </a:r>
            <a:r>
              <a:rPr lang="en-US" sz="1917" dirty="0"/>
              <a:t>, active network connections)</a:t>
            </a:r>
            <a:endParaRPr lang="en-US" dirty="0"/>
          </a:p>
          <a:p>
            <a:r>
              <a:rPr lang="en-US" dirty="0" err="1">
                <a:latin typeface="Consolas" pitchFamily="49" charset="0"/>
                <a:cs typeface="Consolas" pitchFamily="49" charset="0"/>
              </a:rPr>
              <a:t>netscan</a:t>
            </a:r>
            <a:r>
              <a:rPr lang="en-US" dirty="0"/>
              <a:t> </a:t>
            </a:r>
            <a:r>
              <a:rPr lang="en-US" sz="1917" dirty="0"/>
              <a:t>(Win7, opened network sockets and connections)</a:t>
            </a:r>
            <a:endParaRPr lang="en-US" dirty="0"/>
          </a:p>
          <a:p>
            <a:r>
              <a:rPr lang="en-US" dirty="0" err="1">
                <a:latin typeface="Consolas" pitchFamily="49" charset="0"/>
                <a:cs typeface="Consolas" pitchFamily="49" charset="0"/>
              </a:rPr>
              <a:t>pslist</a:t>
            </a:r>
            <a:r>
              <a:rPr lang="en-US" dirty="0"/>
              <a:t> / </a:t>
            </a:r>
            <a:r>
              <a:rPr lang="en-US" dirty="0" err="1">
                <a:latin typeface="Consolas" pitchFamily="49" charset="0"/>
                <a:cs typeface="Consolas" pitchFamily="49" charset="0"/>
              </a:rPr>
              <a:t>psscan</a:t>
            </a:r>
            <a:r>
              <a:rPr lang="en-US" dirty="0"/>
              <a:t> </a:t>
            </a:r>
            <a:r>
              <a:rPr lang="en-US" sz="1917" dirty="0"/>
              <a:t>(process listing from </a:t>
            </a:r>
            <a:r>
              <a:rPr lang="en-US" sz="1917" dirty="0" err="1"/>
              <a:t>WinAPI</a:t>
            </a:r>
            <a:r>
              <a:rPr lang="en-US" sz="1917" dirty="0"/>
              <a:t> vs. EPROCESS blocks)</a:t>
            </a:r>
            <a:endParaRPr lang="en-US" dirty="0"/>
          </a:p>
          <a:p>
            <a:r>
              <a:rPr lang="en-US" dirty="0" err="1">
                <a:latin typeface="Consolas" pitchFamily="49" charset="0"/>
                <a:cs typeface="Consolas" pitchFamily="49" charset="0"/>
              </a:rPr>
              <a:t>malfind</a:t>
            </a:r>
            <a:r>
              <a:rPr lang="en-US" dirty="0"/>
              <a:t> / </a:t>
            </a:r>
            <a:r>
              <a:rPr lang="en-US" dirty="0" err="1">
                <a:latin typeface="Consolas" pitchFamily="49" charset="0"/>
                <a:cs typeface="Consolas" pitchFamily="49" charset="0"/>
              </a:rPr>
              <a:t>ldrmodules</a:t>
            </a:r>
            <a:r>
              <a:rPr lang="en-US" dirty="0"/>
              <a:t> </a:t>
            </a:r>
            <a:r>
              <a:rPr lang="en-US" sz="1917" dirty="0"/>
              <a:t>(code injection + dump / DLL detection)</a:t>
            </a:r>
            <a:endParaRPr lang="en-US" dirty="0"/>
          </a:p>
          <a:p>
            <a:r>
              <a:rPr lang="en-US" dirty="0" err="1">
                <a:latin typeface="Consolas" pitchFamily="49" charset="0"/>
                <a:cs typeface="Consolas" pitchFamily="49" charset="0"/>
              </a:rPr>
              <a:t>hivelist</a:t>
            </a:r>
            <a:r>
              <a:rPr lang="en-US" dirty="0"/>
              <a:t> </a:t>
            </a:r>
            <a:r>
              <a:rPr lang="en-US" sz="1917" dirty="0"/>
              <a:t>(registry lookup and parsing)</a:t>
            </a:r>
            <a:r>
              <a:rPr lang="en-US" dirty="0"/>
              <a:t> / </a:t>
            </a:r>
            <a:r>
              <a:rPr lang="en-US" dirty="0" err="1">
                <a:latin typeface="Consolas" pitchFamily="49" charset="0"/>
                <a:cs typeface="Consolas" pitchFamily="49" charset="0"/>
              </a:rPr>
              <a:t>hashdump</a:t>
            </a:r>
            <a:endParaRPr lang="en-US" dirty="0">
              <a:latin typeface="Consolas" pitchFamily="49" charset="0"/>
              <a:cs typeface="Consolas" pitchFamily="49" charset="0"/>
            </a:endParaRPr>
          </a:p>
          <a:p>
            <a:r>
              <a:rPr lang="en-US" dirty="0">
                <a:latin typeface="Consolas" pitchFamily="49" charset="0"/>
                <a:cs typeface="Consolas" pitchFamily="49" charset="0"/>
              </a:rPr>
              <a:t>handles</a:t>
            </a:r>
            <a:r>
              <a:rPr lang="en-US" dirty="0"/>
              <a:t> / </a:t>
            </a:r>
            <a:r>
              <a:rPr lang="en-US" dirty="0" err="1">
                <a:latin typeface="Consolas" pitchFamily="49" charset="0"/>
                <a:cs typeface="Consolas" pitchFamily="49" charset="0"/>
              </a:rPr>
              <a:t>dlllist</a:t>
            </a:r>
            <a:r>
              <a:rPr lang="en-US" dirty="0"/>
              <a:t> / </a:t>
            </a:r>
            <a:r>
              <a:rPr lang="en-US" dirty="0" err="1">
                <a:latin typeface="Consolas" pitchFamily="49" charset="0"/>
                <a:cs typeface="Consolas" pitchFamily="49" charset="0"/>
              </a:rPr>
              <a:t>filescan</a:t>
            </a:r>
            <a:r>
              <a:rPr lang="en-US" dirty="0"/>
              <a:t> </a:t>
            </a:r>
            <a:r>
              <a:rPr lang="en-US" sz="1917" dirty="0"/>
              <a:t>(</a:t>
            </a:r>
            <a:r>
              <a:rPr lang="en-US" sz="1917" dirty="0" err="1"/>
              <a:t>filelist</a:t>
            </a:r>
            <a:r>
              <a:rPr lang="en-US" sz="1917" dirty="0"/>
              <a:t> / DLL files / FILE_OBJECT handles)</a:t>
            </a:r>
            <a:r>
              <a:rPr lang="en-US" dirty="0"/>
              <a:t> </a:t>
            </a:r>
          </a:p>
          <a:p>
            <a:r>
              <a:rPr lang="en-US" dirty="0" err="1">
                <a:latin typeface="Consolas" pitchFamily="49" charset="0"/>
                <a:cs typeface="Consolas" pitchFamily="49" charset="0"/>
              </a:rPr>
              <a:t>cmdscan</a:t>
            </a:r>
            <a:r>
              <a:rPr lang="en-US" dirty="0"/>
              <a:t> /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consoles</a:t>
            </a:r>
            <a:r>
              <a:rPr lang="en-US" dirty="0"/>
              <a:t> </a:t>
            </a:r>
            <a:r>
              <a:rPr lang="en-US" sz="1917" dirty="0"/>
              <a:t>(</a:t>
            </a:r>
            <a:r>
              <a:rPr lang="en-US" sz="1917" dirty="0">
                <a:latin typeface="Consolas" pitchFamily="49" charset="0"/>
                <a:cs typeface="Consolas" pitchFamily="49" charset="0"/>
              </a:rPr>
              <a:t>cmd.exe</a:t>
            </a:r>
            <a:r>
              <a:rPr lang="en-US" sz="1917" dirty="0"/>
              <a:t> history / console buffer)</a:t>
            </a:r>
            <a:endParaRPr lang="en-US" dirty="0"/>
          </a:p>
          <a:p>
            <a:r>
              <a:rPr lang="en-US" dirty="0" err="1">
                <a:latin typeface="Consolas" pitchFamily="49" charset="0"/>
                <a:cs typeface="Consolas" pitchFamily="49" charset="0"/>
              </a:rPr>
              <a:t>shimcache</a:t>
            </a:r>
            <a:r>
              <a:rPr lang="en-US" dirty="0"/>
              <a:t> </a:t>
            </a:r>
            <a:r>
              <a:rPr lang="en-US" sz="1917" dirty="0"/>
              <a:t>(application compatibility info)</a:t>
            </a:r>
            <a:endParaRPr lang="en-US" dirty="0"/>
          </a:p>
          <a:p>
            <a:r>
              <a:rPr lang="en-US" dirty="0" err="1">
                <a:latin typeface="Consolas" pitchFamily="49" charset="0"/>
                <a:cs typeface="Consolas" pitchFamily="49" charset="0"/>
              </a:rPr>
              <a:t>memdump</a:t>
            </a:r>
            <a:r>
              <a:rPr lang="en-US" dirty="0"/>
              <a:t> / </a:t>
            </a:r>
            <a:r>
              <a:rPr lang="en-US" dirty="0" err="1">
                <a:latin typeface="Consolas" pitchFamily="49" charset="0"/>
                <a:cs typeface="Consolas" pitchFamily="49" charset="0"/>
              </a:rPr>
              <a:t>procmemdump</a:t>
            </a:r>
            <a:r>
              <a:rPr lang="en-US" dirty="0"/>
              <a:t> / </a:t>
            </a:r>
            <a:r>
              <a:rPr lang="en-US" dirty="0" err="1">
                <a:latin typeface="Consolas" pitchFamily="49" charset="0"/>
                <a:cs typeface="Consolas" pitchFamily="49" charset="0"/>
              </a:rPr>
              <a:t>procexedump</a:t>
            </a:r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5A545-624B-40D2-AFF6-9618F12C24F0}" type="slidenum">
              <a:rPr lang="cs-CZ" smtClean="0"/>
              <a:pPr>
                <a:defRPr/>
              </a:pPr>
              <a:t>64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| PV204 In-Memory Malware Analysis</a:t>
            </a:r>
            <a:endParaRPr lang="cs-CZ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Analysis: </a:t>
            </a:r>
            <a:r>
              <a:rPr lang="en-US" dirty="0" err="1"/>
              <a:t>xp-infected.vmem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Recommended tools</a:t>
            </a:r>
          </a:p>
          <a:p>
            <a:pPr lvl="1"/>
            <a:r>
              <a:rPr lang="en-US" dirty="0"/>
              <a:t>Volatility (or Redline)</a:t>
            </a:r>
          </a:p>
          <a:p>
            <a:r>
              <a:rPr lang="en-US" dirty="0"/>
              <a:t>Objectives:</a:t>
            </a:r>
          </a:p>
          <a:p>
            <a:pPr lvl="1"/>
            <a:r>
              <a:rPr lang="en-US" dirty="0"/>
              <a:t>Get familiar with memory of your first infected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5A545-624B-40D2-AFF6-9618F12C24F0}" type="slidenum">
              <a:rPr lang="cs-CZ" smtClean="0"/>
              <a:pPr>
                <a:defRPr/>
              </a:pPr>
              <a:t>65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| PV204 In-Memory Malware Analysis</a:t>
            </a:r>
            <a:endParaRPr lang="cs-CZ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Analysis: win7_x64.vmem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Recommended tools</a:t>
            </a:r>
          </a:p>
          <a:p>
            <a:pPr lvl="1"/>
            <a:r>
              <a:rPr lang="en-US" dirty="0"/>
              <a:t>Volatility (or Redline)</a:t>
            </a:r>
          </a:p>
          <a:p>
            <a:r>
              <a:rPr lang="en-US" dirty="0"/>
              <a:t>Objectives:</a:t>
            </a:r>
          </a:p>
          <a:p>
            <a:pPr lvl="1"/>
            <a:r>
              <a:rPr lang="en-US" dirty="0"/>
              <a:t>Get familiar with memory of Win7 x64 system</a:t>
            </a:r>
          </a:p>
          <a:p>
            <a:pPr lvl="1"/>
            <a:r>
              <a:rPr lang="en-US" dirty="0"/>
              <a:t>Can you see any differences from the previous sample?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5A545-624B-40D2-AFF6-9618F12C24F0}" type="slidenum">
              <a:rPr lang="cs-CZ" smtClean="0"/>
              <a:pPr>
                <a:defRPr/>
              </a:pPr>
              <a:t>66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| PV204 In-Memory Malware Analysis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3227367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Analysis: </a:t>
            </a:r>
            <a:r>
              <a:rPr lang="en-US" dirty="0" err="1"/>
              <a:t>zeus.vmem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Recommended tools</a:t>
            </a:r>
          </a:p>
          <a:p>
            <a:pPr lvl="1"/>
            <a:r>
              <a:rPr lang="en-US" dirty="0"/>
              <a:t>Volatility</a:t>
            </a:r>
          </a:p>
          <a:p>
            <a:r>
              <a:rPr lang="en-US" dirty="0"/>
              <a:t>Objectives:</a:t>
            </a:r>
          </a:p>
          <a:p>
            <a:pPr lvl="1"/>
            <a:r>
              <a:rPr lang="en-US" dirty="0"/>
              <a:t>Find suspicious network connections</a:t>
            </a:r>
          </a:p>
          <a:p>
            <a:pPr lvl="1"/>
            <a:r>
              <a:rPr lang="en-US" dirty="0"/>
              <a:t>Find process responsible for the network activity</a:t>
            </a:r>
          </a:p>
          <a:p>
            <a:pPr lvl="1"/>
            <a:r>
              <a:rPr lang="en-US" dirty="0"/>
              <a:t>Can you figure out what infections this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5A545-624B-40D2-AFF6-9618F12C24F0}" type="slidenum">
              <a:rPr lang="cs-CZ" smtClean="0"/>
              <a:pPr>
                <a:defRPr/>
              </a:pPr>
              <a:t>67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| PV204 In-Memory Malware Analysis</a:t>
            </a:r>
            <a:endParaRPr lang="cs-CZ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Analysis: zeus2x4.vmem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Recommended tools</a:t>
            </a:r>
          </a:p>
          <a:p>
            <a:pPr lvl="1"/>
            <a:r>
              <a:rPr lang="en-US" dirty="0"/>
              <a:t>Volatility</a:t>
            </a:r>
          </a:p>
          <a:p>
            <a:r>
              <a:rPr lang="en-US" dirty="0"/>
              <a:t>Objectives:</a:t>
            </a:r>
          </a:p>
          <a:p>
            <a:pPr lvl="1"/>
            <a:r>
              <a:rPr lang="en-US" dirty="0"/>
              <a:t>Find suspicious network connections</a:t>
            </a:r>
          </a:p>
          <a:p>
            <a:pPr lvl="1"/>
            <a:r>
              <a:rPr lang="en-US" dirty="0"/>
              <a:t>Find process responsible for the network activity</a:t>
            </a:r>
          </a:p>
          <a:p>
            <a:pPr lvl="1"/>
            <a:r>
              <a:rPr lang="en-US" dirty="0"/>
              <a:t>Can you figure out what infections this</a:t>
            </a:r>
          </a:p>
          <a:p>
            <a:pPr lvl="1"/>
            <a:r>
              <a:rPr lang="en-US" dirty="0"/>
              <a:t>Can you dump the virus configuration?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5A545-624B-40D2-AFF6-9618F12C24F0}" type="slidenum">
              <a:rPr lang="cs-CZ" smtClean="0"/>
              <a:pPr>
                <a:defRPr/>
              </a:pPr>
              <a:t>68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| PV204 In-Memory Malware Analysis</a:t>
            </a:r>
            <a:endParaRPr lang="cs-CZ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Analysis: </a:t>
            </a:r>
            <a:r>
              <a:rPr lang="en-US" dirty="0" err="1"/>
              <a:t>bob.vmem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Recommended tools</a:t>
            </a:r>
          </a:p>
          <a:p>
            <a:pPr lvl="1"/>
            <a:r>
              <a:rPr lang="en-US" dirty="0"/>
              <a:t>Volatility, Foremost, Strings</a:t>
            </a:r>
          </a:p>
          <a:p>
            <a:r>
              <a:rPr lang="en-US" dirty="0"/>
              <a:t>Objectives:</a:t>
            </a:r>
          </a:p>
          <a:p>
            <a:pPr lvl="1"/>
            <a:r>
              <a:rPr lang="en-US" dirty="0"/>
              <a:t>Find suspicious network connections</a:t>
            </a:r>
          </a:p>
          <a:p>
            <a:pPr lvl="1"/>
            <a:r>
              <a:rPr lang="en-US" dirty="0"/>
              <a:t>Find process responsible for the network activity</a:t>
            </a:r>
          </a:p>
          <a:p>
            <a:pPr lvl="1"/>
            <a:r>
              <a:rPr lang="en-US" dirty="0"/>
              <a:t>Can you figure out what caused the infection?</a:t>
            </a:r>
          </a:p>
          <a:p>
            <a:pPr lvl="1"/>
            <a:r>
              <a:rPr lang="en-US" dirty="0"/>
              <a:t>Can you dump the initial source vector?</a:t>
            </a:r>
          </a:p>
          <a:p>
            <a:pPr lvl="1"/>
            <a:r>
              <a:rPr lang="en-US" dirty="0"/>
              <a:t>What known vulnerability (CVE) has been exploited?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5A545-624B-40D2-AFF6-9618F12C24F0}" type="slidenum">
              <a:rPr lang="cs-CZ" smtClean="0"/>
              <a:pPr>
                <a:defRPr/>
              </a:pPr>
              <a:t>69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| PV204 In-Memory Malware Analysis</a:t>
            </a:r>
            <a:endParaRPr lang="cs-CZ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Web pages of this course</a:t>
            </a:r>
            <a:endParaRPr lang="en-US" b="1" dirty="0">
              <a:solidFill>
                <a:schemeClr val="accent2"/>
              </a:solidFill>
              <a:latin typeface="Consolas" pitchFamily="49" charset="0"/>
              <a:cs typeface="Consolas" pitchFamily="49" charset="0"/>
            </a:endParaRPr>
          </a:p>
          <a:p>
            <a:pPr lvl="1"/>
            <a:r>
              <a:rPr lang="en-US" b="1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  <a:hlinkClick r:id="rId2"/>
              </a:rPr>
              <a:t>https://dior.ics.muni.cz/~valor/pv204</a:t>
            </a:r>
            <a:endParaRPr lang="en-US" b="1" dirty="0">
              <a:solidFill>
                <a:schemeClr val="accent2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b="1" dirty="0"/>
              <a:t>Additional resources</a:t>
            </a:r>
          </a:p>
          <a:p>
            <a:pPr lvl="1"/>
            <a:r>
              <a:rPr lang="en-US" dirty="0">
                <a:hlinkClick r:id="rId3"/>
              </a:rPr>
              <a:t>Public memory images</a:t>
            </a:r>
            <a:r>
              <a:rPr lang="en-US" dirty="0"/>
              <a:t> for analysis</a:t>
            </a:r>
          </a:p>
          <a:p>
            <a:pPr lvl="1"/>
            <a:r>
              <a:rPr lang="en-US" dirty="0">
                <a:hlinkClick r:id="rId4"/>
              </a:rPr>
              <a:t>Reverse Engineering for Beginners</a:t>
            </a:r>
            <a:r>
              <a:rPr lang="en-US" dirty="0"/>
              <a:t> (amazing PDF doc)</a:t>
            </a:r>
          </a:p>
          <a:p>
            <a:pPr lvl="1"/>
            <a:r>
              <a:rPr lang="en-US" dirty="0">
                <a:hlinkClick r:id="rId5"/>
              </a:rPr>
              <a:t>REMnux</a:t>
            </a:r>
            <a:r>
              <a:rPr lang="en-US" dirty="0"/>
              <a:t>: All you need to start with RE</a:t>
            </a:r>
          </a:p>
          <a:p>
            <a:pPr lvl="1"/>
            <a:r>
              <a:rPr lang="en-US" dirty="0">
                <a:hlinkClick r:id="rId6"/>
              </a:rPr>
              <a:t>ContagioDump </a:t>
            </a:r>
            <a:r>
              <a:rPr lang="en-US" dirty="0"/>
              <a:t>blog (for additional malware samples)</a:t>
            </a:r>
          </a:p>
          <a:p>
            <a:pPr lvl="1"/>
            <a:r>
              <a:rPr lang="en-US" dirty="0">
                <a:hlinkClick r:id="rId7"/>
              </a:rPr>
              <a:t>Malware Traffic Analysis</a:t>
            </a:r>
            <a:r>
              <a:rPr lang="en-US" dirty="0"/>
              <a:t> (both traffic &amp; samples)</a:t>
            </a:r>
            <a:endParaRPr lang="en-US" b="1" dirty="0">
              <a:solidFill>
                <a:schemeClr val="accent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5A545-624B-40D2-AFF6-9618F12C24F0}" type="slidenum">
              <a:rPr lang="cs-CZ" smtClean="0"/>
              <a:pPr>
                <a:defRPr/>
              </a:pPr>
              <a:t>70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| PV204 In-Memory Malware Analysis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0063769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8BD78ED-75E1-4879-B369-BC61F7C45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5713511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D1E5586-8BB5-40F6-96C3-2E87DD7CE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715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495353" y="1128890"/>
            <a:ext cx="6153294" cy="195539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457200"/>
            <a:r>
              <a:rPr lang="en-US" sz="4700" b="1" dirty="0"/>
              <a:t>Answers &amp; Questions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1872852" y="3283857"/>
            <a:ext cx="5398295" cy="103414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 defTabSz="457200">
              <a:spcAft>
                <a:spcPts val="1000"/>
              </a:spcAft>
            </a:pPr>
            <a:r>
              <a:rPr lang="en-US" sz="1800" dirty="0"/>
              <a:t>Thank you for your attention.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A832D40-B9E2-4CE7-9E0A-B35591EA2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84221" y="3175000"/>
            <a:ext cx="37555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3906" y="4892145"/>
            <a:ext cx="5868361" cy="314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000"/>
              <a:t>| PV204 In-Memory Malware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956718" y="4892145"/>
            <a:ext cx="413375" cy="3148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B35A545-624B-40D2-AFF6-9618F12C24F0}" type="slidenum"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  <a:defRPr/>
              </a:pPr>
              <a:t>71</a:t>
            </a:fld>
            <a:endParaRPr lang="en-US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5315</TotalTime>
  <Words>3029</Words>
  <Application>Microsoft Macintosh PowerPoint</Application>
  <PresentationFormat>On-screen Show (16:10)</PresentationFormat>
  <Paragraphs>581</Paragraphs>
  <Slides>71</Slides>
  <Notes>18</Notes>
  <HiddenSlides>4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81" baseType="lpstr">
      <vt:lpstr>Arial</vt:lpstr>
      <vt:lpstr>Calibri</vt:lpstr>
      <vt:lpstr>Consolas</vt:lpstr>
      <vt:lpstr>Fira Sans</vt:lpstr>
      <vt:lpstr>Fira Sans Condensed</vt:lpstr>
      <vt:lpstr>Fira Sans SemiBold</vt:lpstr>
      <vt:lpstr>Palatino Linotype</vt:lpstr>
      <vt:lpstr>Roboto</vt:lpstr>
      <vt:lpstr>Wingdings</vt:lpstr>
      <vt:lpstr>Celestial</vt:lpstr>
      <vt:lpstr>PV204  In-Memory Malware Analysis</vt:lpstr>
      <vt:lpstr>PowerPoint Presentation</vt:lpstr>
      <vt:lpstr>Agenda</vt:lpstr>
      <vt:lpstr>Why memory analysis?</vt:lpstr>
      <vt:lpstr>PowerPoint Presentation</vt:lpstr>
      <vt:lpstr>PowerPoint Presentation</vt:lpstr>
      <vt:lpstr>Challenges in Reverse Engineering (RE)</vt:lpstr>
      <vt:lpstr>PowerPoint Presentation</vt:lpstr>
      <vt:lpstr>Memory analysis</vt:lpstr>
      <vt:lpstr>x86/x64 Memory organization</vt:lpstr>
      <vt:lpstr>PowerPoint Presentation</vt:lpstr>
      <vt:lpstr>PowerPoint Presentation</vt:lpstr>
      <vt:lpstr>Logical vs. Physical</vt:lpstr>
      <vt:lpstr>PowerPoint Presentation</vt:lpstr>
      <vt:lpstr>PowerPoint Presentation</vt:lpstr>
      <vt:lpstr>PowerPoint Presentation</vt:lpstr>
      <vt:lpstr>PowerPoint Presentation</vt:lpstr>
      <vt:lpstr>ARM64 Memory organization</vt:lpstr>
      <vt:lpstr>ARM64 Memory organization</vt:lpstr>
      <vt:lpstr>Operating System</vt:lpstr>
      <vt:lpstr>Operating System Data Structures</vt:lpstr>
      <vt:lpstr>(Double) Linked Lists</vt:lpstr>
      <vt:lpstr>DKOM Direct Kernel Object Manipulation</vt:lpstr>
      <vt:lpstr>Interesting OS Structures</vt:lpstr>
      <vt:lpstr>Memory Pages</vt:lpstr>
      <vt:lpstr>DLL/Process Injection</vt:lpstr>
      <vt:lpstr>PowerPoint Presentation</vt:lpstr>
      <vt:lpstr>And now something completely</vt:lpstr>
      <vt:lpstr>PowerPoint Presentation</vt:lpstr>
      <vt:lpstr>Memory Acquisition</vt:lpstr>
      <vt:lpstr>Memory (re)sources</vt:lpstr>
      <vt:lpstr>PowerPoint Presentation</vt:lpstr>
      <vt:lpstr>Memory Acquisition</vt:lpstr>
      <vt:lpstr>Memory Acquisition</vt:lpstr>
      <vt:lpstr>Memory Acquisition</vt:lpstr>
      <vt:lpstr>Memory Acquisition</vt:lpstr>
      <vt:lpstr>Memory Analysis</vt:lpstr>
      <vt:lpstr>Memory Analysis Tools</vt:lpstr>
      <vt:lpstr>FireEye Redline</vt:lpstr>
      <vt:lpstr>PowerPoint Presentation</vt:lpstr>
      <vt:lpstr>PowerPoint Presentation</vt:lpstr>
      <vt:lpstr>PowerPoint Presentation</vt:lpstr>
      <vt:lpstr>HBGary Responder (Pro/CE)</vt:lpstr>
      <vt:lpstr>HBGary Responder Pro -- DDNA</vt:lpstr>
      <vt:lpstr>PowerPoint Presentation</vt:lpstr>
      <vt:lpstr>PowerPoint Presentation</vt:lpstr>
      <vt:lpstr>PowerPoint Presentation</vt:lpstr>
      <vt:lpstr>Volatility Framework</vt:lpstr>
      <vt:lpstr>Additional Important Tools</vt:lpstr>
      <vt:lpstr>Additional Important Tools</vt:lpstr>
      <vt:lpstr>Forensic analysis of RAM?</vt:lpstr>
      <vt:lpstr>What to search for in Operating System?</vt:lpstr>
      <vt:lpstr>Known Bad Mutexes</vt:lpstr>
      <vt:lpstr>Known Good Processes/Locations </vt:lpstr>
      <vt:lpstr>Memory tracing</vt:lpstr>
      <vt:lpstr>Operational security</vt:lpstr>
      <vt:lpstr>Operational Security (OpSec)</vt:lpstr>
      <vt:lpstr>Recommended Analysis Process</vt:lpstr>
      <vt:lpstr>More information</vt:lpstr>
      <vt:lpstr>Answers &amp; Questions</vt:lpstr>
      <vt:lpstr>Lab</vt:lpstr>
      <vt:lpstr>Lab Requirements</vt:lpstr>
      <vt:lpstr>Recommended Analysis Process</vt:lpstr>
      <vt:lpstr>Volatility2 Framework – cheat sheet</vt:lpstr>
      <vt:lpstr>Analysis: xp-infected.vmem</vt:lpstr>
      <vt:lpstr>Analysis: win7_x64.vmem</vt:lpstr>
      <vt:lpstr>Analysis: zeus.vmem</vt:lpstr>
      <vt:lpstr>Analysis: zeus2x4.vmem</vt:lpstr>
      <vt:lpstr>Analysis: bob.vmem</vt:lpstr>
      <vt:lpstr>More information</vt:lpstr>
      <vt:lpstr>Answers &amp;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PV204 Security technologies</dc:title>
  <dc:creator>Lorenc, Vaclav</dc:creator>
  <cp:lastModifiedBy>Lorenc, Vaclav</cp:lastModifiedBy>
  <cp:revision>78</cp:revision>
  <dcterms:created xsi:type="dcterms:W3CDTF">2021-05-06T16:46:02Z</dcterms:created>
  <dcterms:modified xsi:type="dcterms:W3CDTF">2025-03-31T07:48:22Z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97894b3-2847-4d77-83aa-d5f137c768f0_Enabled">
    <vt:lpwstr>true</vt:lpwstr>
  </property>
  <property fmtid="{D5CDD505-2E9C-101B-9397-08002B2CF9AE}" pid="3" name="MSIP_Label_597894b3-2847-4d77-83aa-d5f137c768f0_SetDate">
    <vt:lpwstr>2024-05-06T07:00:19Z</vt:lpwstr>
  </property>
  <property fmtid="{D5CDD505-2E9C-101B-9397-08002B2CF9AE}" pid="4" name="MSIP_Label_597894b3-2847-4d77-83aa-d5f137c768f0_Method">
    <vt:lpwstr>Standard</vt:lpwstr>
  </property>
  <property fmtid="{D5CDD505-2E9C-101B-9397-08002B2CF9AE}" pid="5" name="MSIP_Label_597894b3-2847-4d77-83aa-d5f137c768f0_Name">
    <vt:lpwstr>Internal Use Only</vt:lpwstr>
  </property>
  <property fmtid="{D5CDD505-2E9C-101B-9397-08002B2CF9AE}" pid="6" name="MSIP_Label_597894b3-2847-4d77-83aa-d5f137c768f0_SiteId">
    <vt:lpwstr>6d4034cd-7225-4f72-b853-91feaea64919</vt:lpwstr>
  </property>
  <property fmtid="{D5CDD505-2E9C-101B-9397-08002B2CF9AE}" pid="7" name="MSIP_Label_597894b3-2847-4d77-83aa-d5f137c768f0_ActionId">
    <vt:lpwstr>06894169-22b7-43b5-bac4-8b37aa823bd2</vt:lpwstr>
  </property>
  <property fmtid="{D5CDD505-2E9C-101B-9397-08002B2CF9AE}" pid="8" name="MSIP_Label_597894b3-2847-4d77-83aa-d5f137c768f0_ContentBits">
    <vt:lpwstr>0</vt:lpwstr>
  </property>
</Properties>
</file>